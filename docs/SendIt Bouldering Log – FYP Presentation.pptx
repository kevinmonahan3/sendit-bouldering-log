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Public Sans" pitchFamily="34" charset="0"/>
      <p:regular r:id="rId21"/>
      <p:bold r:id="rId22"/>
    </p:embeddedFont>
    <p:embeddedFont>
      <p:font typeface="Oswald" pitchFamily="34"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Kevin. My project is SendIt, a mobile app for bouldering. You set your phone on a tripod, it finds the route you’re about to climb, watches the attempt and logs whether you topped it or fell, without you touching the phone. The image is real output from my prototype: the lime route at Suas, with every lime hold found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 quick bit of context: bouldering is climbing short walls without ropes, over crash mats. Each route is a set of holds of one colour with a grade for difficulty, and you “top” it by holding the top hold with both hands. From my own climbing, sessions are lots of short attempts. To keep a proper log you have to stop after every go and type everything in, so most of the time it doesn’t get done, or it gets done later from memory. That makes the data unreliable: failed attempts are the first thing to go missing, and they’re exactly what shows progress. People film their climbs, but the video just sits in the camera roll. So the need is an app that does the logging for you from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closest apps I found. Veraclimb is the nearest: a logbook with pose analysis, but iPhone only and it doesn’t find the route or log automatically. TopOut starts and stops recording when your feet leave the floor, but it doesn’t know the route or whether you topped. KAYA and CrushLog are logbooks where you enter everything by hand. BoulderVision is a desktop case study from Roboflow that finds holds with a trained model, classifies their colour and tracks pose, which shows the idea is feasible. SendIt finds holds by colour instead, so it needs no training data and works in a new gym straight away. None of the apps I reviewed combines route detection, auto-recording and outcome logging in one phone app, and that’s the gap SendIt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pieces of research shaped the design. The Way Up is a 2025 dataset of indoor climbing videos where every hold use is labelled. They compared pose models and MediaPipe came within about three points of the most accurate one while being the fastest, which supports using MediaPipe in the prototype and ML Kit on the phone. They also only count a hold as used if contact lasts half a second, the same idea as my topped rule. Second, a UCSD project that’s the closest to mine: they tried colour masks for holds and moved to a trained detector. I’ve kept colour because it needs no training data and works in a new gym straight away, the user’s tap fixes most of its problems, and I plan to compare against a trained detector in the evaluation. Third, Sural et al. on the HSV colour space: at low saturation hue isn’t meaningful, which is exactly why white and dark holds fail. Finally, a very recent preprint showed fingertip points work better than wrists for contact, which could improve my top detection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user’s side. One: set the phone on a tripod, enter the grade, tap one hold to pick the colour and tap the top hold. Two: the app finds all holds of that colour from a still frame and highlights the route, before the climber steps in, because the body would block holds later. Three: while you climb, on-device pose tracking watches your body. The attempt starts when both ankles leave the floor zone, it’s a top when both wrists are in the top hold box for about half a second, and it ends when your hips are back on the floor. Four: three seconds later recording stops and the attempt is logged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feedback on my proposal, I split the work into core and secondary objectives. The four core ones are the ones that make SendIt different: detecting the route, detecting the start and end of an attempt, recognising topped versus fell, and logging it automatically. Each has a measurable test against ground truth I label by hand, and a target. For hold detection that’s at least 85% of holds found with at least 80% of outlines being real holds; start and stop within a second on 90% of clips; topped or fell right at least 80% of the time; and 90% of attempts logged with no input. The usability target of 68 is the commonly used average for the System Usability Scale questionnaire. The final evaluation will use new footage that wasn’t used for tuning, so the numbers are fair. Things like stats, calendar, accounts and the friends feed are secondary and only happen if the core is solid.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showing the work, here’s the approach and why I chose it. Hold detection uses classic computer vision, which I’ll show in detail on the next slide. Attempt tracking uses a pre-trained pose model with my own rules on top for start, top and fall. I chose classic OpenCV over training a model because it needs no labelled dataset, it’s fast on a phone and I can explain every step. I prototype in Python because it’s much faster to experiment on recorded clips, then port to Flutter for Android. OpenCV uses the same function names in Dart, so porting is mostly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hold detection pipeline on a real photo of the pink route at Suas. I take one still frame before the climber steps in, because their body would block holds later. I convert it from BGR to HSV, which separates the colour (hue) from how bright it is, so a hold in shadow still has roughly the same hue. Then I keep only pixels inside the hold’s colour range, which can be tuned by hand or set by tapping one hold. That gives the mask on the left: white is pink, black is everything else. You can see the small specks: a morphology open and close removes specks and fills gaps. Then I find the outline of each white blob and filter by size, so the specks are too small and wall panels are too big. What’s left is the result on the right: all 13 pink holds found, with no false outlines.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tune and test the method I built this tool in Python. The controls window has a slider for each setting in the pipeline: the colour range, vividness, brightness, clean-up and minimum and maximum hold size. The view window shows the result and the mask side by side and updates live. Here it’s on the starting settings, where the colour range covers everything, so it finds 36 outlines including whole wall panels. Narrowing the colour to pink and raising the vividness gets it to all 13 pink holds with no false outlines, which is what you saw on the last slide. Tap mode lets you click one hold and builds the range for you, and for every test I save the images and record a row in my results spreadsheet, which is where the numbers on the next slides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I’ve filmed test footage at Suas, labelled it, and built the hold detection prototype in Python with a tuning tool. On 11 photos covering 10 hold colours, hand-tuned settings found 81% of the 160 holds, and 76% of the outlines it drew were real holds. Then I added tap-to-sample: you tap one hold and it builds the colour range from that. On the 7 photos I’ve redone so far it found 92% of holds versus 89% hand-tuned, with fewer false outlines, from a single tap. These are development numbers, since I tuned on these photos; the final evaluation in March will use fresh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examples. Lime works perfectly: one tap and every hold is found. Yellow shows an improvement I made: the wall panels were being picked up as huge “holds”, so I added a maximum size filter. Panels are about 4% of the image while the biggest hold is under 1%, and that took precision on this photo from 78% to 100%. White is the failure case: a white hold on a white wall has no colour to separate it, and dark blue and holds in shadow have similar problems. The biggest lesson is that most false positives are correct-colour holds from other routes, so colour can’t identify the route on its own. That justifies the design where the user taps the top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technical risks are hold colours that don’t stand out, holds from other routes, and pose tracking failing when the climber faces the wall or is on an overhang. Each has a mitigation built into the design, and I’ll test pose tracking on my real clips first. Because videos are stored on the phone, a regular climber could fill their storage over a few months, so videos are recorded at 720p, trimmed to just the attempt, and old ones can be cleared automatically; the climb records themselves are only a few kilobytes. The biggest practical risk is that I’m new to Flutter and Dart, so I’m working out the logic in Python first, where I’m faster, and doing the Dart basics alongside. And since the app films people, I have permission from the gym, ethics approval comes before any user testing, and videos never leave the phone unless the user shares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For the rest of this semester I’ll build the pose prototype in Python: running pose detection on my clips and writing the start, top and fall rules, plus wireframes and the database design, then the interim report. Over Christmas I start the real Flutter app and port hold detection to Dart. Early semester 2 is the hardest part, live pose tracking and auto-recording, so I’ve put it early to leave time for problems. Then the logbook, the final evaluation on fresh footage and user testing before the draft report. Secondary features only come in if the core is done. Everything is tracked on a GitHub board with a milestone per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SendIt finds the route from the video, watches the attempt and logs the result, so climbers don’t have to. The hold detection prototype already works on most colours, and the next step is the pose prototype in November. Thanks,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8212B"/>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0"/>
            <a:ext cx="10566400" cy="4109720"/>
          </a:xfrm>
          <a:prstGeom prst="rect">
            <a:avLst/>
          </a:prstGeom>
          <a:noFill/>
          <a:ln/>
        </p:spPr>
        <p:txBody>
          <a:bodyPr wrap="square" lIns="0" tIns="0" rIns="0" bIns="0" rtlCol="0" anchor="t"/>
          <a:lstStyle>
            <a:lvl1pPr algn="l" indent="0" marL="0">
              <a:lnSpc>
                <a:spcPct val="140000"/>
              </a:lnSpc>
              <a:buNone/>
              <a:defRPr lang="en-US" sz="1600" dirty="0">
                <a:solidFill>
                  <a:srgbClr val="18212B"/>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8212B"/>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0"/>
            <a:ext cx="10566400" cy="4109720"/>
          </a:xfrm>
          <a:prstGeom prst="rect">
            <a:avLst/>
          </a:prstGeom>
          <a:noFill/>
          <a:ln/>
        </p:spPr>
        <p:txBody>
          <a:bodyPr wrap="square" lIns="0" tIns="0" rIns="0" bIns="0" rtlCol="0" anchor="t"/>
          <a:lstStyle>
            <a:lvl1pPr algn="l" indent="0" marL="0">
              <a:lnSpc>
                <a:spcPct val="140000"/>
              </a:lnSpc>
              <a:buNone/>
              <a:defRPr lang="en-US" sz="1600" dirty="0">
                <a:solidFill>
                  <a:srgbClr val="18212B"/>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12B"/>
        </a:solidFill>
      </p:bgPr>
    </p:bg>
    <p:spTree>
      <p:nvGrpSpPr>
        <p:cNvPr id="1" name=""/>
        <p:cNvGrpSpPr/>
        <p:nvPr/>
      </p:nvGrpSpPr>
      <p:grpSpPr>
        <a:xfrm>
          <a:off x="0" y="0"/>
          <a:ext cx="0" cy="0"/>
          <a:chOff x="0" y="0"/>
          <a:chExt cx="0" cy="0"/>
        </a:xfrm>
      </p:grpSpPr>
      <p:sp>
        <p:nvSpPr>
          <p:cNvPr id="2" name="Text 0"/>
          <p:cNvSpPr/>
          <p:nvPr/>
        </p:nvSpPr>
        <p:spPr>
          <a:xfrm>
            <a:off x="812800" y="1689100"/>
            <a:ext cx="763930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E04A"/>
                </a:solidFill>
                <a:latin typeface="Public Sans" pitchFamily="34" charset="0"/>
                <a:ea typeface="Public Sans" pitchFamily="34" charset="-122"/>
                <a:cs typeface="Public Sans" pitchFamily="34" charset="-120"/>
              </a:rPr>
              <a:t>FINAL YEAR PROJECT · CSIS 2026–27</a:t>
            </a:r>
            <a:endParaRPr lang="en-US" sz="1200" dirty="0"/>
          </a:p>
        </p:txBody>
      </p:sp>
      <p:sp>
        <p:nvSpPr>
          <p:cNvPr id="3" name="Text 1"/>
          <p:cNvSpPr/>
          <p:nvPr>
            <p:ph type="title"/>
          </p:nvPr>
        </p:nvSpPr>
        <p:spPr>
          <a:xfrm>
            <a:off x="812800" y="2131060"/>
            <a:ext cx="7639304" cy="1295400"/>
          </a:xfrm>
          <a:prstGeom prst="rect">
            <a:avLst/>
          </a:prstGeom>
          <a:noFill/>
          <a:ln/>
        </p:spPr>
        <p:txBody>
          <a:bodyPr wrap="square" lIns="0" tIns="0" rIns="0" bIns="0" rtlCol="0" anchor="t">
            <a:normAutofit/>
          </a:bodyPr>
          <a:lstStyle/>
          <a:p>
            <a:pPr algn="l" indent="0" marL="0">
              <a:lnSpc>
                <a:spcPts val="10000"/>
              </a:lnSpc>
              <a:buNone/>
            </a:pPr>
            <a:r>
              <a:rPr lang="en-US" sz="10000" b="1" i="0" dirty="0">
                <a:solidFill>
                  <a:srgbClr val="F3F1EA"/>
                </a:solidFill>
                <a:latin typeface="Oswald" pitchFamily="34" charset="0"/>
                <a:ea typeface="Oswald" pitchFamily="34" charset="-122"/>
                <a:cs typeface="Oswald" pitchFamily="34" charset="-120"/>
              </a:rPr>
              <a:t>SendIt</a:t>
            </a:r>
            <a:endParaRPr lang="en-US" sz="10000" dirty="0"/>
          </a:p>
        </p:txBody>
      </p:sp>
      <p:sp>
        <p:nvSpPr>
          <p:cNvPr id="4" name="Text 2"/>
          <p:cNvSpPr/>
          <p:nvPr/>
        </p:nvSpPr>
        <p:spPr>
          <a:xfrm>
            <a:off x="812800" y="3629660"/>
            <a:ext cx="7639304"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3F1EA"/>
                </a:solidFill>
                <a:latin typeface="Public Sans" pitchFamily="34" charset="0"/>
                <a:ea typeface="Public Sans" pitchFamily="34" charset="-122"/>
                <a:cs typeface="Public Sans" pitchFamily="34" charset="-120"/>
              </a:rPr>
              <a:t>A bouldering tracker that spots your route, watches the climb and logs the outcome for you</a:t>
            </a:r>
            <a:endParaRPr lang="en-US" sz="2200" dirty="0"/>
          </a:p>
        </p:txBody>
      </p:sp>
      <p:sp>
        <p:nvSpPr>
          <p:cNvPr id="5" name="Text 3"/>
          <p:cNvSpPr/>
          <p:nvPr/>
        </p:nvSpPr>
        <p:spPr>
          <a:xfrm>
            <a:off x="812800" y="4584700"/>
            <a:ext cx="763930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DD2"/>
                </a:solidFill>
                <a:latin typeface="Public Sans" pitchFamily="34" charset="0"/>
                <a:ea typeface="Public Sans" pitchFamily="34" charset="-122"/>
                <a:cs typeface="Public Sans" pitchFamily="34" charset="-120"/>
              </a:rPr>
              <a:t>Kevin Monahan · Computer Systems</a:t>
            </a:r>
            <a:endParaRPr lang="en-US" sz="1500" dirty="0"/>
          </a:p>
        </p:txBody>
      </p:sp>
      <p:sp>
        <p:nvSpPr>
          <p:cNvPr id="6" name="Text 4"/>
          <p:cNvSpPr/>
          <p:nvPr/>
        </p:nvSpPr>
        <p:spPr>
          <a:xfrm>
            <a:off x="812800" y="4902200"/>
            <a:ext cx="763930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DD2"/>
                </a:solidFill>
                <a:latin typeface="Public Sans" pitchFamily="34" charset="0"/>
                <a:ea typeface="Public Sans" pitchFamily="34" charset="-122"/>
                <a:cs typeface="Public Sans" pitchFamily="34" charset="-120"/>
              </a:rPr>
              <a:t>Supervisor: Fazilat Hojaji</a:t>
            </a:r>
            <a:endParaRPr lang="en-US" sz="1500" dirty="0"/>
          </a:p>
        </p:txBody>
      </p:sp>
      <p:pic>
        <p:nvPicPr>
          <p:cNvPr id="7" name="Image 0" descr="Lime route on the wall at Suas with each detected hold outlined and numbered">    </p:cNvPr>
          <p:cNvPicPr>
            <a:picLocks noChangeAspect="1"/>
          </p:cNvPicPr>
          <p:nvPr/>
        </p:nvPicPr>
        <p:blipFill>
          <a:blip r:embed="rId1"/>
          <a:srcRect l="0" r="0" t="8" b="8"/>
          <a:stretch/>
        </p:blipFill>
        <p:spPr>
          <a:xfrm>
            <a:off x="8839200" y="1171575"/>
            <a:ext cx="2540000" cy="4514850"/>
          </a:xfrm>
          <a:prstGeom prst="roundRect">
            <a:avLst>
              <a:gd name="adj" fmla="val 4000"/>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6810"/>
                </a:solidFill>
                <a:latin typeface="Public Sans" pitchFamily="34" charset="0"/>
                <a:ea typeface="Public Sans" pitchFamily="34" charset="-122"/>
                <a:cs typeface="Public Sans" pitchFamily="34" charset="-120"/>
              </a:rPr>
              <a:t>MOTIVATION</a:t>
            </a:r>
            <a:endParaRPr lang="en-US" sz="1200" dirty="0"/>
          </a:p>
        </p:txBody>
      </p:sp>
      <p:sp>
        <p:nvSpPr>
          <p:cNvPr id="3" name="Text 1"/>
          <p:cNvSpPr/>
          <p:nvPr>
            <p:ph type="title"/>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8212B"/>
                </a:solidFill>
                <a:latin typeface="Oswald" pitchFamily="34" charset="0"/>
                <a:ea typeface="Oswald" pitchFamily="34" charset="-122"/>
                <a:cs typeface="Oswald" pitchFamily="34" charset="-120"/>
              </a:rPr>
              <a:t>The problem: logging climbs is manual</a:t>
            </a:r>
            <a:endParaRPr lang="en-US" sz="3600" dirty="0"/>
          </a:p>
        </p:txBody>
      </p:sp>
      <p:sp>
        <p:nvSpPr>
          <p:cNvPr id="4" name="Shape 2"/>
          <p:cNvSpPr/>
          <p:nvPr/>
        </p:nvSpPr>
        <p:spPr>
          <a:xfrm>
            <a:off x="815975" y="1938655"/>
            <a:ext cx="3380317" cy="1954530"/>
          </a:xfrm>
          <a:prstGeom prst="roundRect">
            <a:avLst>
              <a:gd name="adj" fmla="val 5036"/>
            </a:avLst>
          </a:prstGeom>
          <a:solidFill>
            <a:srgbClr val="FBFAF6"/>
          </a:solidFill>
          <a:ln w="6350">
            <a:solidFill>
              <a:srgbClr val="DCD8CC"/>
            </a:solidFill>
            <a:prstDash val="solid"/>
          </a:ln>
        </p:spPr>
      </p:sp>
      <p:sp>
        <p:nvSpPr>
          <p:cNvPr id="5" name="Text 3"/>
          <p:cNvSpPr/>
          <p:nvPr/>
        </p:nvSpPr>
        <p:spPr>
          <a:xfrm>
            <a:off x="1071880" y="2194560"/>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212B"/>
                </a:solidFill>
                <a:latin typeface="Public Sans" pitchFamily="34" charset="0"/>
                <a:ea typeface="Public Sans" pitchFamily="34" charset="-122"/>
                <a:cs typeface="Public Sans" pitchFamily="34" charset="-120"/>
              </a:rPr>
              <a:t>Time-consuming</a:t>
            </a:r>
            <a:endParaRPr lang="en-US" sz="1800" dirty="0"/>
          </a:p>
        </p:txBody>
      </p:sp>
      <p:sp>
        <p:nvSpPr>
          <p:cNvPr id="6" name="Text 4"/>
          <p:cNvSpPr/>
          <p:nvPr/>
        </p:nvSpPr>
        <p:spPr>
          <a:xfrm>
            <a:off x="1071880" y="2570480"/>
            <a:ext cx="295456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752"/>
                </a:solidFill>
                <a:latin typeface="Public Sans" pitchFamily="34" charset="0"/>
                <a:ea typeface="Public Sans" pitchFamily="34" charset="-122"/>
                <a:cs typeface="Public Sans" pitchFamily="34" charset="-120"/>
              </a:rPr>
              <a:t>After every attempt you stop, unlock your phone and type in the grade, the outcome and the attempt count.</a:t>
            </a:r>
            <a:endParaRPr lang="en-US" sz="1500" dirty="0"/>
          </a:p>
        </p:txBody>
      </p:sp>
      <p:sp>
        <p:nvSpPr>
          <p:cNvPr id="7" name="Shape 5"/>
          <p:cNvSpPr/>
          <p:nvPr/>
        </p:nvSpPr>
        <p:spPr>
          <a:xfrm>
            <a:off x="4405842" y="1938655"/>
            <a:ext cx="3380317" cy="1954530"/>
          </a:xfrm>
          <a:prstGeom prst="roundRect">
            <a:avLst>
              <a:gd name="adj" fmla="val 5036"/>
            </a:avLst>
          </a:prstGeom>
          <a:solidFill>
            <a:srgbClr val="FBFAF6"/>
          </a:solidFill>
          <a:ln w="6350">
            <a:solidFill>
              <a:srgbClr val="DCD8CC"/>
            </a:solidFill>
            <a:prstDash val="solid"/>
          </a:ln>
        </p:spPr>
      </p:sp>
      <p:sp>
        <p:nvSpPr>
          <p:cNvPr id="8" name="Text 6"/>
          <p:cNvSpPr/>
          <p:nvPr/>
        </p:nvSpPr>
        <p:spPr>
          <a:xfrm>
            <a:off x="4661746" y="2194560"/>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212B"/>
                </a:solidFill>
                <a:latin typeface="Public Sans" pitchFamily="34" charset="0"/>
                <a:ea typeface="Public Sans" pitchFamily="34" charset="-122"/>
                <a:cs typeface="Public Sans" pitchFamily="34" charset="-120"/>
              </a:rPr>
              <a:t>Inconsistent</a:t>
            </a:r>
            <a:endParaRPr lang="en-US" sz="1800" dirty="0"/>
          </a:p>
        </p:txBody>
      </p:sp>
      <p:sp>
        <p:nvSpPr>
          <p:cNvPr id="9" name="Text 7"/>
          <p:cNvSpPr/>
          <p:nvPr/>
        </p:nvSpPr>
        <p:spPr>
          <a:xfrm>
            <a:off x="4661746" y="2570480"/>
            <a:ext cx="295456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752"/>
                </a:solidFill>
                <a:latin typeface="Public Sans" pitchFamily="34" charset="0"/>
                <a:ea typeface="Public Sans" pitchFamily="34" charset="-122"/>
                <a:cs typeface="Public Sans" pitchFamily="34" charset="-120"/>
              </a:rPr>
              <a:t>It’s easy to skip or do later from memory. Falls go unrecorded and videos sit in the camera roll, not linked to the climb.</a:t>
            </a:r>
            <a:endParaRPr lang="en-US" sz="1500" dirty="0"/>
          </a:p>
        </p:txBody>
      </p:sp>
      <p:sp>
        <p:nvSpPr>
          <p:cNvPr id="10" name="Shape 8"/>
          <p:cNvSpPr/>
          <p:nvPr/>
        </p:nvSpPr>
        <p:spPr>
          <a:xfrm>
            <a:off x="7995708" y="1938655"/>
            <a:ext cx="3380317" cy="1954530"/>
          </a:xfrm>
          <a:prstGeom prst="roundRect">
            <a:avLst>
              <a:gd name="adj" fmla="val 5036"/>
            </a:avLst>
          </a:prstGeom>
          <a:solidFill>
            <a:srgbClr val="FBFAF6"/>
          </a:solidFill>
          <a:ln w="6350">
            <a:solidFill>
              <a:srgbClr val="DCD8CC"/>
            </a:solidFill>
            <a:prstDash val="solid"/>
          </a:ln>
        </p:spPr>
      </p:sp>
      <p:sp>
        <p:nvSpPr>
          <p:cNvPr id="11" name="Text 9"/>
          <p:cNvSpPr/>
          <p:nvPr/>
        </p:nvSpPr>
        <p:spPr>
          <a:xfrm>
            <a:off x="8251613" y="2194560"/>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212B"/>
                </a:solidFill>
                <a:latin typeface="Public Sans" pitchFamily="34" charset="0"/>
                <a:ea typeface="Public Sans" pitchFamily="34" charset="-122"/>
                <a:cs typeface="Public Sans" pitchFamily="34" charset="-120"/>
              </a:rPr>
              <a:t>Apps only do half</a:t>
            </a:r>
            <a:endParaRPr lang="en-US" sz="1800" dirty="0"/>
          </a:p>
        </p:txBody>
      </p:sp>
      <p:sp>
        <p:nvSpPr>
          <p:cNvPr id="12" name="Text 10"/>
          <p:cNvSpPr/>
          <p:nvPr/>
        </p:nvSpPr>
        <p:spPr>
          <a:xfrm>
            <a:off x="8251613" y="2570480"/>
            <a:ext cx="295456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752"/>
                </a:solidFill>
                <a:latin typeface="Public Sans" pitchFamily="34" charset="0"/>
                <a:ea typeface="Public Sans" pitchFamily="34" charset="-122"/>
                <a:cs typeface="Public Sans" pitchFamily="34" charset="-120"/>
              </a:rPr>
              <a:t>Logbook apps don’t understand your video. Video apps don’t know the route or whether you topped it.</a:t>
            </a:r>
            <a:endParaRPr lang="en-US" sz="1500" dirty="0"/>
          </a:p>
        </p:txBody>
      </p:sp>
      <p:sp>
        <p:nvSpPr>
          <p:cNvPr id="13" name="Shape 11"/>
          <p:cNvSpPr/>
          <p:nvPr/>
        </p:nvSpPr>
        <p:spPr>
          <a:xfrm>
            <a:off x="812800" y="4201160"/>
            <a:ext cx="10566400" cy="1414780"/>
          </a:xfrm>
          <a:prstGeom prst="roundRect">
            <a:avLst>
              <a:gd name="adj" fmla="val 7181"/>
            </a:avLst>
          </a:prstGeom>
          <a:solidFill>
            <a:srgbClr val="18212B"/>
          </a:solidFill>
          <a:ln/>
        </p:spPr>
      </p:sp>
      <p:sp>
        <p:nvSpPr>
          <p:cNvPr id="14" name="Text 12"/>
          <p:cNvSpPr/>
          <p:nvPr/>
        </p:nvSpPr>
        <p:spPr>
          <a:xfrm>
            <a:off x="1117600" y="4455160"/>
            <a:ext cx="1025550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E04A"/>
                </a:solidFill>
                <a:latin typeface="Public Sans" pitchFamily="34" charset="0"/>
                <a:ea typeface="Public Sans" pitchFamily="34" charset="-122"/>
                <a:cs typeface="Public Sans" pitchFamily="34" charset="-120"/>
              </a:rPr>
              <a:t>THE NEED</a:t>
            </a:r>
            <a:endParaRPr lang="en-US" sz="1200" dirty="0"/>
          </a:p>
        </p:txBody>
      </p:sp>
      <p:sp>
        <p:nvSpPr>
          <p:cNvPr id="15" name="Text 13"/>
          <p:cNvSpPr/>
          <p:nvPr/>
        </p:nvSpPr>
        <p:spPr>
          <a:xfrm>
            <a:off x="1117600" y="4744720"/>
            <a:ext cx="10255504"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3F1EA"/>
                </a:solidFill>
                <a:latin typeface="Public Sans" pitchFamily="34" charset="0"/>
                <a:ea typeface="Public Sans" pitchFamily="34" charset="-122"/>
                <a:cs typeface="Public Sans" pitchFamily="34" charset="-120"/>
              </a:rPr>
              <a:t>An app that records and logs each attempt automatically, using the video itself, so climbers can just climb.</a:t>
            </a:r>
            <a:endParaRPr lang="en-US" sz="1800" dirty="0"/>
          </a:p>
        </p:txBody>
      </p:sp>
      <p:sp>
        <p:nvSpPr>
          <p:cNvPr id="16" name="Text 14"/>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6810"/>
                </a:solidFill>
                <a:latin typeface="Public Sans" pitchFamily="34" charset="0"/>
                <a:ea typeface="Public Sans" pitchFamily="34" charset="-122"/>
                <a:cs typeface="Public Sans" pitchFamily="34" charset="-120"/>
              </a:rPr>
              <a:t>CONTEXT</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8212B"/>
                </a:solidFill>
                <a:latin typeface="Oswald" pitchFamily="34" charset="0"/>
                <a:ea typeface="Oswald" pitchFamily="34" charset="-122"/>
                <a:cs typeface="Oswald" pitchFamily="34" charset="-120"/>
              </a:rPr>
              <a:t>What already exists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94840"/>
          <a:ext cx="10556240" cy="2729230"/>
        </p:xfrm>
        <a:graphic>
          <a:graphicData uri="http://schemas.openxmlformats.org/drawingml/2006/table">
            <a:tbl>
              <a:tblPr/>
              <a:tblGrid>
                <a:gridCol w="1794561"/>
                <a:gridCol w="2850185"/>
                <a:gridCol w="1477874"/>
                <a:gridCol w="1477874"/>
                <a:gridCol w="1477874"/>
                <a:gridCol w="1477874"/>
              </a:tblGrid>
              <a:tr h="588010">
                <a:tc>
                  <a:txBody>
                    <a:bodyPr/>
                    <a:lstStyle/>
                    <a:p>
                      <a:pPr indent="0" marL="0">
                        <a:lnSpc>
                          <a:spcPts val="1820"/>
                        </a:lnSpc>
                        <a:buNone/>
                      </a:pPr>
                      <a:r>
                        <a:rPr lang="en-US" sz="1300" b="1" dirty="0">
                          <a:solidFill>
                            <a:srgbClr val="3E4752"/>
                          </a:solidFill>
                          <a:latin typeface="Public Sans" pitchFamily="34" charset="0"/>
                          <a:ea typeface="Public Sans" pitchFamily="34" charset="-122"/>
                          <a:cs typeface="Public Sans" pitchFamily="34" charset="-120"/>
                        </a:rPr>
                        <a:t>App</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820"/>
                        </a:lnSpc>
                        <a:buNone/>
                      </a:pPr>
                      <a:r>
                        <a:rPr lang="en-US" sz="1300" b="1" dirty="0">
                          <a:solidFill>
                            <a:srgbClr val="3E4752"/>
                          </a:solidFill>
                          <a:latin typeface="Public Sans" pitchFamily="34" charset="0"/>
                          <a:ea typeface="Public Sans" pitchFamily="34" charset="-122"/>
                          <a:cs typeface="Public Sans" pitchFamily="34" charset="-120"/>
                        </a:rPr>
                        <a:t>What it is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820"/>
                        </a:lnSpc>
                        <a:buNone/>
                      </a:pPr>
                      <a:r>
                        <a:rPr lang="en-US" sz="1300" b="1" dirty="0">
                          <a:solidFill>
                            <a:srgbClr val="3E4752"/>
                          </a:solidFill>
                          <a:latin typeface="Public Sans" pitchFamily="34" charset="0"/>
                          <a:ea typeface="Public Sans" pitchFamily="34" charset="-122"/>
                          <a:cs typeface="Public Sans" pitchFamily="34" charset="-120"/>
                        </a:rPr>
                        <a:t>Body tracking</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820"/>
                        </a:lnSpc>
                        <a:buNone/>
                      </a:pPr>
                      <a:r>
                        <a:rPr lang="en-US" sz="1300" b="1" dirty="0">
                          <a:solidFill>
                            <a:srgbClr val="3E4752"/>
                          </a:solidFill>
                          <a:latin typeface="Public Sans" pitchFamily="34" charset="0"/>
                          <a:ea typeface="Public Sans" pitchFamily="34" charset="-122"/>
                          <a:cs typeface="Public Sans" pitchFamily="34" charset="-120"/>
                        </a:rPr>
                        <a:t>Finds the route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820"/>
                        </a:lnSpc>
                        <a:buNone/>
                      </a:pPr>
                      <a:r>
                        <a:rPr lang="en-US" sz="1300" b="1" dirty="0">
                          <a:solidFill>
                            <a:srgbClr val="3E4752"/>
                          </a:solidFill>
                          <a:latin typeface="Public Sans" pitchFamily="34" charset="0"/>
                          <a:ea typeface="Public Sans" pitchFamily="34" charset="-122"/>
                          <a:cs typeface="Public Sans" pitchFamily="34" charset="-120"/>
                        </a:rPr>
                        <a:t>Auto start / stop</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820"/>
                        </a:lnSpc>
                        <a:buNone/>
                      </a:pPr>
                      <a:r>
                        <a:rPr lang="en-US" sz="1300" b="1" dirty="0">
                          <a:solidFill>
                            <a:srgbClr val="3E4752"/>
                          </a:solidFill>
                          <a:latin typeface="Public Sans" pitchFamily="34" charset="0"/>
                          <a:ea typeface="Public Sans" pitchFamily="34" charset="-122"/>
                          <a:cs typeface="Public Sans" pitchFamily="34" charset="-120"/>
                        </a:rPr>
                        <a:t>Auto topped / fell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r>
              <a:tr h="356870">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Veraclimb</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iPhone logbook + pose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Yes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56870">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TopOut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Auto-recording app</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Feet only</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Yes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56870">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KAYA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Logbook + social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56870">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CrushLog</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Logbook with videos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56870">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BoulderVision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Desktop prototype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Yes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Yes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56870">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SendIt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B5BF9C"/>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5BF9C"/>
                      </a:solidFill>
                      <a:prstDash val="solid"/>
                      <a:round/>
                      <a:headEnd type="none" w="med" len="med"/>
                      <a:tailEnd type="none" w="med" len="med"/>
                    </a:lnB>
                    <a:solidFill>
                      <a:srgbClr val="E3EFC2"/>
                    </a:solidFill>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Mobile tracker (this project)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5BF9C"/>
                      </a:solidFill>
                      <a:prstDash val="solid"/>
                      <a:round/>
                      <a:headEnd type="none" w="med" len="med"/>
                      <a:tailEnd type="none" w="med" len="med"/>
                    </a:lnL>
                    <a:lnR w="12700" cap="flat" cmpd="sng" algn="ctr">
                      <a:solidFill>
                        <a:srgbClr val="B5BF9C"/>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5BF9C"/>
                      </a:solidFill>
                      <a:prstDash val="solid"/>
                      <a:round/>
                      <a:headEnd type="none" w="med" len="med"/>
                      <a:tailEnd type="none" w="med" len="med"/>
                    </a:lnB>
                    <a:solidFill>
                      <a:srgbClr val="E3EFC2"/>
                    </a:solidFill>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Yes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5BF9C"/>
                      </a:solidFill>
                      <a:prstDash val="solid"/>
                      <a:round/>
                      <a:headEnd type="none" w="med" len="med"/>
                      <a:tailEnd type="none" w="med" len="med"/>
                    </a:lnL>
                    <a:lnR w="12700" cap="flat" cmpd="sng" algn="ctr">
                      <a:solidFill>
                        <a:srgbClr val="B5BF9C"/>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5BF9C"/>
                      </a:solidFill>
                      <a:prstDash val="solid"/>
                      <a:round/>
                      <a:headEnd type="none" w="med" len="med"/>
                      <a:tailEnd type="none" w="med" len="med"/>
                    </a:lnB>
                    <a:solidFill>
                      <a:srgbClr val="E3EFC2"/>
                    </a:solidFill>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Yes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5BF9C"/>
                      </a:solidFill>
                      <a:prstDash val="solid"/>
                      <a:round/>
                      <a:headEnd type="none" w="med" len="med"/>
                      <a:tailEnd type="none" w="med" len="med"/>
                    </a:lnL>
                    <a:lnR w="12700" cap="flat" cmpd="sng" algn="ctr">
                      <a:solidFill>
                        <a:srgbClr val="B5BF9C"/>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5BF9C"/>
                      </a:solidFill>
                      <a:prstDash val="solid"/>
                      <a:round/>
                      <a:headEnd type="none" w="med" len="med"/>
                      <a:tailEnd type="none" w="med" len="med"/>
                    </a:lnB>
                    <a:solidFill>
                      <a:srgbClr val="E3EFC2"/>
                    </a:solidFill>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Yes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5BF9C"/>
                      </a:solidFill>
                      <a:prstDash val="solid"/>
                      <a:round/>
                      <a:headEnd type="none" w="med" len="med"/>
                      <a:tailEnd type="none" w="med" len="med"/>
                    </a:lnL>
                    <a:lnR w="12700" cap="flat" cmpd="sng" algn="ctr">
                      <a:solidFill>
                        <a:srgbClr val="B5BF9C"/>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5BF9C"/>
                      </a:solidFill>
                      <a:prstDash val="solid"/>
                      <a:round/>
                      <a:headEnd type="none" w="med" len="med"/>
                      <a:tailEnd type="none" w="med" len="med"/>
                    </a:lnB>
                    <a:solidFill>
                      <a:srgbClr val="E3EFC2"/>
                    </a:solidFill>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Yes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5BF9C"/>
                      </a:solidFill>
                      <a:prstDash val="solid"/>
                      <a:round/>
                      <a:headEnd type="none" w="med" len="med"/>
                      <a:tailEnd type="none" w="med" len="med"/>
                    </a:lnL>
                    <a:lnR w="12700" cap="flat" cmpd="sng" algn="ctr">
                      <a:solidFill>
                        <a:srgbClr val="B5BF9C"/>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5BF9C"/>
                      </a:solidFill>
                      <a:prstDash val="solid"/>
                      <a:round/>
                      <a:headEnd type="none" w="med" len="med"/>
                      <a:tailEnd type="none" w="med" len="med"/>
                    </a:lnB>
                    <a:solidFill>
                      <a:srgbClr val="E3EFC2"/>
                    </a:solidFill>
                  </a:tcPr>
                </a:tc>
              </a:tr>
            </a:tbl>
          </a:graphicData>
        </a:graphic>
      </p:graphicFrame>
      <p:sp>
        <p:nvSpPr>
          <p:cNvPr id="5" name="Text 2"/>
          <p:cNvSpPr/>
          <p:nvPr/>
        </p:nvSpPr>
        <p:spPr>
          <a:xfrm>
            <a:off x="812800" y="4878070"/>
            <a:ext cx="10883392"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B"/>
                </a:solidFill>
                <a:latin typeface="Public Sans" pitchFamily="34" charset="0"/>
                <a:ea typeface="Public Sans" pitchFamily="34" charset="-122"/>
                <a:cs typeface="Public Sans" pitchFamily="34" charset="-120"/>
              </a:rPr>
              <a:t>The gap:</a:t>
            </a:r>
            <a:r>
              <a:rPr lang="en-US" sz="1400" dirty="0">
                <a:solidFill>
                  <a:srgbClr val="18212B"/>
                </a:solidFill>
                <a:latin typeface="Public Sans" pitchFamily="34" charset="0"/>
                <a:ea typeface="Public Sans" pitchFamily="34" charset="-122"/>
                <a:cs typeface="Public Sans" pitchFamily="34" charset="-120"/>
              </a:rPr>
              <a:t> none of the apps I reviewed combines route detection with automatic recording and outcome logging. SendIt builds on TopOut’s floor detection and BoulderVision’s hold + pose pipeline, but runs on a phone with no trained hold model.</a:t>
            </a:r>
            <a:endParaRPr lang="en-US" sz="1400" dirty="0"/>
          </a:p>
        </p:txBody>
      </p:sp>
      <p:sp>
        <p:nvSpPr>
          <p:cNvPr id="6" name="Text 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6810"/>
                </a:solidFill>
                <a:latin typeface="Public Sans" pitchFamily="34" charset="0"/>
                <a:ea typeface="Public Sans" pitchFamily="34" charset="-122"/>
                <a:cs typeface="Public Sans" pitchFamily="34" charset="-120"/>
              </a:rPr>
              <a:t>CONTEXT</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8212B"/>
                </a:solidFill>
                <a:latin typeface="Oswald" pitchFamily="34" charset="0"/>
                <a:ea typeface="Oswald" pitchFamily="34" charset="-122"/>
                <a:cs typeface="Oswald" pitchFamily="34" charset="-120"/>
              </a:rPr>
              <a:t>What the research says</a:t>
            </a:r>
            <a:endParaRPr lang="en-US" sz="3600" dirty="0"/>
          </a:p>
        </p:txBody>
      </p:sp>
      <p:sp>
        <p:nvSpPr>
          <p:cNvPr id="4" name="Shape 2"/>
          <p:cNvSpPr/>
          <p:nvPr/>
        </p:nvSpPr>
        <p:spPr>
          <a:xfrm>
            <a:off x="815975" y="1887855"/>
            <a:ext cx="3380317" cy="2653030"/>
          </a:xfrm>
          <a:prstGeom prst="roundRect">
            <a:avLst>
              <a:gd name="adj" fmla="val 3710"/>
            </a:avLst>
          </a:prstGeom>
          <a:solidFill>
            <a:srgbClr val="FBFAF6"/>
          </a:solidFill>
          <a:ln w="6350">
            <a:solidFill>
              <a:srgbClr val="DCD8CC"/>
            </a:solidFill>
            <a:prstDash val="solid"/>
          </a:ln>
        </p:spPr>
      </p:sp>
      <p:sp>
        <p:nvSpPr>
          <p:cNvPr id="5" name="Text 3"/>
          <p:cNvSpPr/>
          <p:nvPr/>
        </p:nvSpPr>
        <p:spPr>
          <a:xfrm>
            <a:off x="1046480" y="2118361"/>
            <a:ext cx="30068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B"/>
                </a:solidFill>
                <a:latin typeface="Public Sans" pitchFamily="34" charset="0"/>
                <a:ea typeface="Public Sans" pitchFamily="34" charset="-122"/>
                <a:cs typeface="Public Sans" pitchFamily="34" charset="-120"/>
              </a:rPr>
              <a:t>The Way Up (2025)</a:t>
            </a:r>
            <a:endParaRPr lang="en-US" sz="1500" dirty="0"/>
          </a:p>
        </p:txBody>
      </p:sp>
      <p:sp>
        <p:nvSpPr>
          <p:cNvPr id="6" name="Text 4"/>
          <p:cNvSpPr/>
          <p:nvPr/>
        </p:nvSpPr>
        <p:spPr>
          <a:xfrm>
            <a:off x="1046480" y="2435861"/>
            <a:ext cx="30068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Maschek &amp; Schedl, CVPR Workshops</a:t>
            </a:r>
            <a:endParaRPr lang="en-US" sz="1200" dirty="0"/>
          </a:p>
        </p:txBody>
      </p:sp>
      <p:sp>
        <p:nvSpPr>
          <p:cNvPr id="7" name="Text 5"/>
          <p:cNvSpPr/>
          <p:nvPr/>
        </p:nvSpPr>
        <p:spPr>
          <a:xfrm>
            <a:off x="1046480" y="2738120"/>
            <a:ext cx="3006886"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752"/>
                </a:solidFill>
                <a:latin typeface="Public Sans" pitchFamily="34" charset="0"/>
                <a:ea typeface="Public Sans" pitchFamily="34" charset="-122"/>
                <a:cs typeface="Public Sans" pitchFamily="34" charset="-120"/>
              </a:rPr>
              <a:t>Found:</a:t>
            </a:r>
            <a:r>
              <a:rPr lang="en-US" sz="1200" dirty="0">
                <a:solidFill>
                  <a:srgbClr val="3E4752"/>
                </a:solidFill>
                <a:latin typeface="Public Sans" pitchFamily="34" charset="0"/>
                <a:ea typeface="Public Sans" pitchFamily="34" charset="-122"/>
                <a:cs typeface="Public Sans" pitchFamily="34" charset="-120"/>
              </a:rPr>
              <a:t> MediaPipe nearly matched the most accurate pose model (83.5% vs 86.6%) and was the fastest.</a:t>
            </a:r>
            <a:endParaRPr lang="en-US" sz="1200" dirty="0"/>
          </a:p>
        </p:txBody>
      </p:sp>
      <p:sp>
        <p:nvSpPr>
          <p:cNvPr id="8" name="Text 6"/>
          <p:cNvSpPr/>
          <p:nvPr/>
        </p:nvSpPr>
        <p:spPr>
          <a:xfrm>
            <a:off x="1046480" y="3467100"/>
            <a:ext cx="2919307" cy="843280"/>
          </a:xfrm>
          <a:prstGeom prst="roundRect">
            <a:avLst>
              <a:gd name="adj" fmla="val 9036"/>
            </a:avLst>
          </a:prstGeom>
          <a:solidFill>
            <a:srgbClr val="E3EFC2"/>
          </a:solidFill>
          <a:ln/>
        </p:spPr>
        <p:txBody>
          <a:bodyPr wrap="square" lIns="104682" tIns="79282" rIns="24723" bIns="53882" rtlCol="0" anchor="t">
            <a:normAutofit/>
          </a:bodyPr>
          <a:lstStyle/>
          <a:p>
            <a:pPr algn="l" indent="0" marL="0">
              <a:lnSpc>
                <a:spcPts val="1680"/>
              </a:lnSpc>
              <a:buNone/>
            </a:pPr>
            <a:r>
              <a:rPr lang="en-US" sz="1200" b="1" dirty="0">
                <a:solidFill>
                  <a:srgbClr val="18212B"/>
                </a:solidFill>
                <a:latin typeface="Public Sans" pitchFamily="34" charset="0"/>
                <a:ea typeface="Public Sans" pitchFamily="34" charset="-122"/>
                <a:cs typeface="Public Sans" pitchFamily="34" charset="-120"/>
              </a:rPr>
              <a:t>For SendIt:</a:t>
            </a:r>
            <a:r>
              <a:rPr lang="en-US" sz="1200" dirty="0">
                <a:solidFill>
                  <a:srgbClr val="18212B"/>
                </a:solidFill>
                <a:latin typeface="Public Sans" pitchFamily="34" charset="0"/>
                <a:ea typeface="Public Sans" pitchFamily="34" charset="-122"/>
                <a:cs typeface="Public Sans" pitchFamily="34" charset="-120"/>
              </a:rPr>
              <a:t> supports MediaPipe / ML Kit. Their 0.5 s contact rule matches my “topped” rule.</a:t>
            </a:r>
            <a:endParaRPr lang="en-US" sz="1200" dirty="0"/>
          </a:p>
        </p:txBody>
      </p:sp>
      <p:sp>
        <p:nvSpPr>
          <p:cNvPr id="9" name="Shape 7"/>
          <p:cNvSpPr/>
          <p:nvPr/>
        </p:nvSpPr>
        <p:spPr>
          <a:xfrm>
            <a:off x="4405842" y="1887855"/>
            <a:ext cx="3380317" cy="2653030"/>
          </a:xfrm>
          <a:prstGeom prst="roundRect">
            <a:avLst>
              <a:gd name="adj" fmla="val 3710"/>
            </a:avLst>
          </a:prstGeom>
          <a:solidFill>
            <a:srgbClr val="FBFAF6"/>
          </a:solidFill>
          <a:ln w="6350">
            <a:solidFill>
              <a:srgbClr val="DCD8CC"/>
            </a:solidFill>
            <a:prstDash val="solid"/>
          </a:ln>
        </p:spPr>
      </p:sp>
      <p:sp>
        <p:nvSpPr>
          <p:cNvPr id="10" name="Text 8"/>
          <p:cNvSpPr/>
          <p:nvPr/>
        </p:nvSpPr>
        <p:spPr>
          <a:xfrm>
            <a:off x="4636346" y="2118361"/>
            <a:ext cx="30068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B"/>
                </a:solidFill>
                <a:latin typeface="Public Sans" pitchFamily="34" charset="0"/>
                <a:ea typeface="Public Sans" pitchFamily="34" charset="-122"/>
                <a:cs typeface="Public Sans" pitchFamily="34" charset="-120"/>
              </a:rPr>
              <a:t>UCSD climbing analysis</a:t>
            </a:r>
            <a:endParaRPr lang="en-US" sz="1500" dirty="0"/>
          </a:p>
        </p:txBody>
      </p:sp>
      <p:sp>
        <p:nvSpPr>
          <p:cNvPr id="11" name="Text 9"/>
          <p:cNvSpPr/>
          <p:nvPr/>
        </p:nvSpPr>
        <p:spPr>
          <a:xfrm>
            <a:off x="4636346" y="2435861"/>
            <a:ext cx="30068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Ekaireb et al., project report</a:t>
            </a:r>
            <a:endParaRPr lang="en-US" sz="1200" dirty="0"/>
          </a:p>
        </p:txBody>
      </p:sp>
      <p:sp>
        <p:nvSpPr>
          <p:cNvPr id="12" name="Text 10"/>
          <p:cNvSpPr/>
          <p:nvPr/>
        </p:nvSpPr>
        <p:spPr>
          <a:xfrm>
            <a:off x="4636346" y="2738120"/>
            <a:ext cx="3006886"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752"/>
                </a:solidFill>
                <a:latin typeface="Public Sans" pitchFamily="34" charset="0"/>
                <a:ea typeface="Public Sans" pitchFamily="34" charset="-122"/>
                <a:cs typeface="Public Sans" pitchFamily="34" charset="-120"/>
              </a:rPr>
              <a:t>Found:</a:t>
            </a:r>
            <a:r>
              <a:rPr lang="en-US" sz="1200" dirty="0">
                <a:solidFill>
                  <a:srgbClr val="3E4752"/>
                </a:solidFill>
                <a:latin typeface="Public Sans" pitchFamily="34" charset="0"/>
                <a:ea typeface="Public Sans" pitchFamily="34" charset="-122"/>
                <a:cs typeface="Public Sans" pitchFamily="34" charset="-120"/>
              </a:rPr>
              <a:t> they tried colour masks first, then switched to a trained hold detector.</a:t>
            </a:r>
            <a:endParaRPr lang="en-US" sz="1200" dirty="0"/>
          </a:p>
        </p:txBody>
      </p:sp>
      <p:sp>
        <p:nvSpPr>
          <p:cNvPr id="13" name="Text 11"/>
          <p:cNvSpPr/>
          <p:nvPr/>
        </p:nvSpPr>
        <p:spPr>
          <a:xfrm>
            <a:off x="4636346" y="3253739"/>
            <a:ext cx="2919307" cy="843280"/>
          </a:xfrm>
          <a:prstGeom prst="roundRect">
            <a:avLst>
              <a:gd name="adj" fmla="val 9036"/>
            </a:avLst>
          </a:prstGeom>
          <a:solidFill>
            <a:srgbClr val="E3EFC2"/>
          </a:solidFill>
          <a:ln/>
        </p:spPr>
        <p:txBody>
          <a:bodyPr wrap="square" lIns="104682" tIns="79282" rIns="24723" bIns="53882" rtlCol="0" anchor="t">
            <a:normAutofit/>
          </a:bodyPr>
          <a:lstStyle/>
          <a:p>
            <a:pPr algn="l" indent="0" marL="0">
              <a:lnSpc>
                <a:spcPts val="1680"/>
              </a:lnSpc>
              <a:buNone/>
            </a:pPr>
            <a:r>
              <a:rPr lang="en-US" sz="1200" b="1" dirty="0">
                <a:solidFill>
                  <a:srgbClr val="18212B"/>
                </a:solidFill>
                <a:latin typeface="Public Sans" pitchFamily="34" charset="0"/>
                <a:ea typeface="Public Sans" pitchFamily="34" charset="-122"/>
                <a:cs typeface="Public Sans" pitchFamily="34" charset="-120"/>
              </a:rPr>
              <a:t>For SendIt:</a:t>
            </a:r>
            <a:r>
              <a:rPr lang="en-US" sz="1200" dirty="0">
                <a:solidFill>
                  <a:srgbClr val="18212B"/>
                </a:solidFill>
                <a:latin typeface="Public Sans" pitchFamily="34" charset="0"/>
                <a:ea typeface="Public Sans" pitchFamily="34" charset="-122"/>
                <a:cs typeface="Public Sans" pitchFamily="34" charset="-120"/>
              </a:rPr>
              <a:t> colour plus one user tap needs no training data. A trained detector is my planned comparison.</a:t>
            </a:r>
            <a:endParaRPr lang="en-US" sz="1200" dirty="0"/>
          </a:p>
        </p:txBody>
      </p:sp>
      <p:sp>
        <p:nvSpPr>
          <p:cNvPr id="14" name="Shape 12"/>
          <p:cNvSpPr/>
          <p:nvPr/>
        </p:nvSpPr>
        <p:spPr>
          <a:xfrm>
            <a:off x="7995708" y="1887855"/>
            <a:ext cx="3380317" cy="2653030"/>
          </a:xfrm>
          <a:prstGeom prst="roundRect">
            <a:avLst>
              <a:gd name="adj" fmla="val 3710"/>
            </a:avLst>
          </a:prstGeom>
          <a:solidFill>
            <a:srgbClr val="FBFAF6"/>
          </a:solidFill>
          <a:ln w="6350">
            <a:solidFill>
              <a:srgbClr val="DCD8CC"/>
            </a:solidFill>
            <a:prstDash val="solid"/>
          </a:ln>
        </p:spPr>
      </p:sp>
      <p:sp>
        <p:nvSpPr>
          <p:cNvPr id="15" name="Text 13"/>
          <p:cNvSpPr/>
          <p:nvPr/>
        </p:nvSpPr>
        <p:spPr>
          <a:xfrm>
            <a:off x="8226213" y="2118361"/>
            <a:ext cx="30068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B"/>
                </a:solidFill>
                <a:latin typeface="Public Sans" pitchFamily="34" charset="0"/>
                <a:ea typeface="Public Sans" pitchFamily="34" charset="-122"/>
                <a:cs typeface="Public Sans" pitchFamily="34" charset="-120"/>
              </a:rPr>
              <a:t>HSV segmentation (2002)</a:t>
            </a:r>
            <a:endParaRPr lang="en-US" sz="1500" dirty="0"/>
          </a:p>
        </p:txBody>
      </p:sp>
      <p:sp>
        <p:nvSpPr>
          <p:cNvPr id="16" name="Text 14"/>
          <p:cNvSpPr/>
          <p:nvPr/>
        </p:nvSpPr>
        <p:spPr>
          <a:xfrm>
            <a:off x="8226213" y="2435861"/>
            <a:ext cx="30068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Sural, Qian &amp; Pramanik, IEEE ICIP</a:t>
            </a:r>
            <a:endParaRPr lang="en-US" sz="1200" dirty="0"/>
          </a:p>
        </p:txBody>
      </p:sp>
      <p:sp>
        <p:nvSpPr>
          <p:cNvPr id="17" name="Text 15"/>
          <p:cNvSpPr/>
          <p:nvPr/>
        </p:nvSpPr>
        <p:spPr>
          <a:xfrm>
            <a:off x="8226213" y="2738120"/>
            <a:ext cx="3006886"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752"/>
                </a:solidFill>
                <a:latin typeface="Public Sans" pitchFamily="34" charset="0"/>
                <a:ea typeface="Public Sans" pitchFamily="34" charset="-122"/>
                <a:cs typeface="Public Sans" pitchFamily="34" charset="-120"/>
              </a:rPr>
              <a:t>Found:</a:t>
            </a:r>
            <a:r>
              <a:rPr lang="en-US" sz="1200" dirty="0">
                <a:solidFill>
                  <a:srgbClr val="3E4752"/>
                </a:solidFill>
                <a:latin typeface="Public Sans" pitchFamily="34" charset="0"/>
                <a:ea typeface="Public Sans" pitchFamily="34" charset="-122"/>
                <a:cs typeface="Public Sans" pitchFamily="34" charset="-120"/>
              </a:rPr>
              <a:t> when saturation is low, hue stops being meaningful and only brightness is useful.</a:t>
            </a:r>
            <a:endParaRPr lang="en-US" sz="1200" dirty="0"/>
          </a:p>
        </p:txBody>
      </p:sp>
      <p:sp>
        <p:nvSpPr>
          <p:cNvPr id="18" name="Text 16"/>
          <p:cNvSpPr/>
          <p:nvPr/>
        </p:nvSpPr>
        <p:spPr>
          <a:xfrm>
            <a:off x="8226213" y="3467100"/>
            <a:ext cx="2919307" cy="629920"/>
          </a:xfrm>
          <a:prstGeom prst="roundRect">
            <a:avLst>
              <a:gd name="adj" fmla="val 12097"/>
            </a:avLst>
          </a:prstGeom>
          <a:solidFill>
            <a:srgbClr val="E3EFC2"/>
          </a:solidFill>
          <a:ln/>
        </p:spPr>
        <p:txBody>
          <a:bodyPr wrap="square" lIns="104682" tIns="79282" rIns="24723" bIns="53882" rtlCol="0" anchor="t">
            <a:normAutofit/>
          </a:bodyPr>
          <a:lstStyle/>
          <a:p>
            <a:pPr algn="l" indent="0" marL="0">
              <a:lnSpc>
                <a:spcPts val="1680"/>
              </a:lnSpc>
              <a:buNone/>
            </a:pPr>
            <a:r>
              <a:rPr lang="en-US" sz="1200" b="1" dirty="0">
                <a:solidFill>
                  <a:srgbClr val="18212B"/>
                </a:solidFill>
                <a:latin typeface="Public Sans" pitchFamily="34" charset="0"/>
                <a:ea typeface="Public Sans" pitchFamily="34" charset="-122"/>
                <a:cs typeface="Public Sans" pitchFamily="34" charset="-120"/>
              </a:rPr>
              <a:t>For SendIt:</a:t>
            </a:r>
            <a:r>
              <a:rPr lang="en-US" sz="1200" dirty="0">
                <a:solidFill>
                  <a:srgbClr val="18212B"/>
                </a:solidFill>
                <a:latin typeface="Public Sans" pitchFamily="34" charset="0"/>
                <a:ea typeface="Public Sans" pitchFamily="34" charset="-122"/>
                <a:cs typeface="Public Sans" pitchFamily="34" charset="-120"/>
              </a:rPr>
              <a:t> explains why my white and dark-blue holds failed.</a:t>
            </a:r>
            <a:endParaRPr lang="en-US" sz="1200" dirty="0"/>
          </a:p>
        </p:txBody>
      </p:sp>
      <p:sp>
        <p:nvSpPr>
          <p:cNvPr id="19" name="Text 17"/>
          <p:cNvSpPr/>
          <p:nvPr/>
        </p:nvSpPr>
        <p:spPr>
          <a:xfrm>
            <a:off x="812800" y="4798061"/>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212B"/>
                </a:solidFill>
                <a:latin typeface="Public Sans" pitchFamily="34" charset="0"/>
                <a:ea typeface="Public Sans" pitchFamily="34" charset="-122"/>
                <a:cs typeface="Public Sans" pitchFamily="34" charset="-120"/>
              </a:rPr>
              <a:t>Newest:</a:t>
            </a:r>
            <a:r>
              <a:rPr lang="en-US" sz="1300" dirty="0">
                <a:solidFill>
                  <a:srgbClr val="18212B"/>
                </a:solidFill>
                <a:latin typeface="Public Sans" pitchFamily="34" charset="0"/>
                <a:ea typeface="Public Sans" pitchFamily="34" charset="-122"/>
                <a:cs typeface="Public Sans" pitchFamily="34" charset="-120"/>
              </a:rPr>
              <a:t> a 2026 preprint found fingertip points beat wrists for detecting hold contact, a possible improvement to my top rule.</a:t>
            </a:r>
            <a:endParaRPr lang="en-US" sz="1300" dirty="0"/>
          </a:p>
        </p:txBody>
      </p:sp>
      <p:sp>
        <p:nvSpPr>
          <p:cNvPr id="20" name="Text 18"/>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6810"/>
                </a:solidFill>
                <a:latin typeface="Public Sans" pitchFamily="34" charset="0"/>
                <a:ea typeface="Public Sans" pitchFamily="34" charset="-122"/>
                <a:cs typeface="Public Sans" pitchFamily="34" charset="-120"/>
              </a:rPr>
              <a:t>PROPOSED SOLUTION</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8212B"/>
                </a:solidFill>
                <a:latin typeface="Oswald" pitchFamily="34" charset="0"/>
                <a:ea typeface="Oswald" pitchFamily="34" charset="-122"/>
                <a:cs typeface="Oswald" pitchFamily="34" charset="-120"/>
              </a:rPr>
              <a:t>How SendIt works</a:t>
            </a:r>
            <a:endParaRPr lang="en-US" sz="3600" dirty="0"/>
          </a:p>
        </p:txBody>
      </p:sp>
      <p:sp>
        <p:nvSpPr>
          <p:cNvPr id="4" name="Shape 2"/>
          <p:cNvSpPr/>
          <p:nvPr/>
        </p:nvSpPr>
        <p:spPr>
          <a:xfrm>
            <a:off x="815975" y="1938654"/>
            <a:ext cx="2501900" cy="2625090"/>
          </a:xfrm>
          <a:prstGeom prst="roundRect">
            <a:avLst>
              <a:gd name="adj" fmla="val 3934"/>
            </a:avLst>
          </a:prstGeom>
          <a:solidFill>
            <a:srgbClr val="FBFAF6"/>
          </a:solidFill>
          <a:ln w="6350">
            <a:solidFill>
              <a:srgbClr val="DCD8CC"/>
            </a:solidFill>
            <a:prstDash val="solid"/>
          </a:ln>
        </p:spPr>
      </p:sp>
      <p:sp>
        <p:nvSpPr>
          <p:cNvPr id="5" name="Text 3"/>
          <p:cNvSpPr/>
          <p:nvPr/>
        </p:nvSpPr>
        <p:spPr>
          <a:xfrm>
            <a:off x="1046480" y="2169161"/>
            <a:ext cx="158115"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4F6810"/>
                </a:solidFill>
                <a:latin typeface="Oswald" pitchFamily="34" charset="0"/>
                <a:ea typeface="Oswald" pitchFamily="34" charset="-122"/>
                <a:cs typeface="Oswald" pitchFamily="34" charset="-120"/>
              </a:rPr>
              <a:t>1</a:t>
            </a:r>
            <a:endParaRPr lang="en-US" sz="2200" dirty="0"/>
          </a:p>
        </p:txBody>
      </p:sp>
      <p:pic>
        <p:nvPicPr>
          <p:cNvPr id="6" name="Image 0" descr="Settings">    </p:cNvPr>
          <p:cNvPicPr>
            <a:picLocks noChangeAspect="1"/>
          </p:cNvPicPr>
          <p:nvPr/>
        </p:nvPicPr>
        <p:blipFill>
          <a:blip r:embed="rId1"/>
          <a:srcRect l="0" r="0" t="0" b="0"/>
          <a:stretch/>
        </p:blipFill>
        <p:spPr>
          <a:xfrm>
            <a:off x="1255395" y="2225039"/>
            <a:ext cx="279400" cy="279400"/>
          </a:xfrm>
          <a:prstGeom prst="rect">
            <a:avLst/>
          </a:prstGeom>
        </p:spPr>
      </p:pic>
      <p:sp>
        <p:nvSpPr>
          <p:cNvPr id="7" name="Text 4"/>
          <p:cNvSpPr/>
          <p:nvPr/>
        </p:nvSpPr>
        <p:spPr>
          <a:xfrm>
            <a:off x="1046480" y="2687321"/>
            <a:ext cx="210211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212B"/>
                </a:solidFill>
                <a:latin typeface="Public Sans" pitchFamily="34" charset="0"/>
                <a:ea typeface="Public Sans" pitchFamily="34" charset="-122"/>
                <a:cs typeface="Public Sans" pitchFamily="34" charset="-120"/>
              </a:rPr>
              <a:t>Set up</a:t>
            </a:r>
            <a:endParaRPr lang="en-US" sz="1800" dirty="0"/>
          </a:p>
        </p:txBody>
      </p:sp>
      <p:sp>
        <p:nvSpPr>
          <p:cNvPr id="8" name="Text 5"/>
          <p:cNvSpPr/>
          <p:nvPr/>
        </p:nvSpPr>
        <p:spPr>
          <a:xfrm>
            <a:off x="1046480" y="3088639"/>
            <a:ext cx="2102117"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752"/>
                </a:solidFill>
                <a:latin typeface="Public Sans" pitchFamily="34" charset="0"/>
                <a:ea typeface="Public Sans" pitchFamily="34" charset="-122"/>
                <a:cs typeface="Public Sans" pitchFamily="34" charset="-120"/>
              </a:rPr>
              <a:t>Phone on a tripod. Enter the grade, tap a hold to pick the colour, tap the top hold.</a:t>
            </a:r>
            <a:endParaRPr lang="en-US" sz="1400" dirty="0"/>
          </a:p>
        </p:txBody>
      </p:sp>
      <p:sp>
        <p:nvSpPr>
          <p:cNvPr id="9" name="Shape 6"/>
          <p:cNvSpPr/>
          <p:nvPr/>
        </p:nvSpPr>
        <p:spPr>
          <a:xfrm>
            <a:off x="3502025" y="1938654"/>
            <a:ext cx="2501900" cy="2625090"/>
          </a:xfrm>
          <a:prstGeom prst="roundRect">
            <a:avLst>
              <a:gd name="adj" fmla="val 3934"/>
            </a:avLst>
          </a:prstGeom>
          <a:solidFill>
            <a:srgbClr val="FBFAF6"/>
          </a:solidFill>
          <a:ln w="6350">
            <a:solidFill>
              <a:srgbClr val="DCD8CC"/>
            </a:solidFill>
            <a:prstDash val="solid"/>
          </a:ln>
        </p:spPr>
      </p:sp>
      <p:sp>
        <p:nvSpPr>
          <p:cNvPr id="10" name="Text 7"/>
          <p:cNvSpPr/>
          <p:nvPr/>
        </p:nvSpPr>
        <p:spPr>
          <a:xfrm>
            <a:off x="3732530" y="2169161"/>
            <a:ext cx="192193"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4F6810"/>
                </a:solidFill>
                <a:latin typeface="Oswald" pitchFamily="34" charset="0"/>
                <a:ea typeface="Oswald" pitchFamily="34" charset="-122"/>
                <a:cs typeface="Oswald" pitchFamily="34" charset="-120"/>
              </a:rPr>
              <a:t>2</a:t>
            </a:r>
            <a:endParaRPr lang="en-US" sz="2200" dirty="0"/>
          </a:p>
        </p:txBody>
      </p:sp>
      <p:pic>
        <p:nvPicPr>
          <p:cNvPr id="11" name="Image 1" descr="Search">    </p:cNvPr>
          <p:cNvPicPr>
            <a:picLocks noChangeAspect="1"/>
          </p:cNvPicPr>
          <p:nvPr/>
        </p:nvPicPr>
        <p:blipFill>
          <a:blip r:embed="rId2"/>
          <a:srcRect l="0" r="0" t="0" b="0"/>
          <a:stretch/>
        </p:blipFill>
        <p:spPr>
          <a:xfrm>
            <a:off x="3975523" y="2225039"/>
            <a:ext cx="279400" cy="279400"/>
          </a:xfrm>
          <a:prstGeom prst="rect">
            <a:avLst/>
          </a:prstGeom>
        </p:spPr>
      </p:pic>
      <p:sp>
        <p:nvSpPr>
          <p:cNvPr id="12" name="Text 8"/>
          <p:cNvSpPr/>
          <p:nvPr/>
        </p:nvSpPr>
        <p:spPr>
          <a:xfrm>
            <a:off x="3732530" y="2687321"/>
            <a:ext cx="210211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212B"/>
                </a:solidFill>
                <a:latin typeface="Public Sans" pitchFamily="34" charset="0"/>
                <a:ea typeface="Public Sans" pitchFamily="34" charset="-122"/>
                <a:cs typeface="Public Sans" pitchFamily="34" charset="-120"/>
              </a:rPr>
              <a:t>See the route</a:t>
            </a:r>
            <a:endParaRPr lang="en-US" sz="1800" dirty="0"/>
          </a:p>
        </p:txBody>
      </p:sp>
      <p:sp>
        <p:nvSpPr>
          <p:cNvPr id="13" name="Text 9"/>
          <p:cNvSpPr/>
          <p:nvPr/>
        </p:nvSpPr>
        <p:spPr>
          <a:xfrm>
            <a:off x="3732530" y="3088639"/>
            <a:ext cx="2102117"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752"/>
                </a:solidFill>
                <a:latin typeface="Public Sans" pitchFamily="34" charset="0"/>
                <a:ea typeface="Public Sans" pitchFamily="34" charset="-122"/>
                <a:cs typeface="Public Sans" pitchFamily="34" charset="-120"/>
              </a:rPr>
              <a:t>The app finds every hold of that colour and highlights the route before you climb.</a:t>
            </a:r>
            <a:endParaRPr lang="en-US" sz="1400" dirty="0"/>
          </a:p>
        </p:txBody>
      </p:sp>
      <p:sp>
        <p:nvSpPr>
          <p:cNvPr id="14" name="Shape 10"/>
          <p:cNvSpPr/>
          <p:nvPr/>
        </p:nvSpPr>
        <p:spPr>
          <a:xfrm>
            <a:off x="6188075" y="1938654"/>
            <a:ext cx="2501900" cy="2625090"/>
          </a:xfrm>
          <a:prstGeom prst="roundRect">
            <a:avLst>
              <a:gd name="adj" fmla="val 3934"/>
            </a:avLst>
          </a:prstGeom>
          <a:solidFill>
            <a:srgbClr val="FBFAF6"/>
          </a:solidFill>
          <a:ln w="6350">
            <a:solidFill>
              <a:srgbClr val="DCD8CC"/>
            </a:solidFill>
            <a:prstDash val="solid"/>
          </a:ln>
        </p:spPr>
      </p:sp>
      <p:sp>
        <p:nvSpPr>
          <p:cNvPr id="15" name="Text 11"/>
          <p:cNvSpPr/>
          <p:nvPr/>
        </p:nvSpPr>
        <p:spPr>
          <a:xfrm>
            <a:off x="6418580" y="2169161"/>
            <a:ext cx="192193"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4F6810"/>
                </a:solidFill>
                <a:latin typeface="Oswald" pitchFamily="34" charset="0"/>
                <a:ea typeface="Oswald" pitchFamily="34" charset="-122"/>
                <a:cs typeface="Oswald" pitchFamily="34" charset="-120"/>
              </a:rPr>
              <a:t>3</a:t>
            </a:r>
            <a:endParaRPr lang="en-US" sz="2200" dirty="0"/>
          </a:p>
        </p:txBody>
      </p:sp>
      <p:pic>
        <p:nvPicPr>
          <p:cNvPr id="16" name="Image 2" descr="Activity">    </p:cNvPr>
          <p:cNvPicPr>
            <a:picLocks noChangeAspect="1"/>
          </p:cNvPicPr>
          <p:nvPr/>
        </p:nvPicPr>
        <p:blipFill>
          <a:blip r:embed="rId3"/>
          <a:srcRect l="0" r="0" t="0" b="0"/>
          <a:stretch/>
        </p:blipFill>
        <p:spPr>
          <a:xfrm>
            <a:off x="6661573" y="2225039"/>
            <a:ext cx="279400" cy="279400"/>
          </a:xfrm>
          <a:prstGeom prst="rect">
            <a:avLst/>
          </a:prstGeom>
        </p:spPr>
      </p:pic>
      <p:sp>
        <p:nvSpPr>
          <p:cNvPr id="17" name="Text 12"/>
          <p:cNvSpPr/>
          <p:nvPr/>
        </p:nvSpPr>
        <p:spPr>
          <a:xfrm>
            <a:off x="6418580" y="2687321"/>
            <a:ext cx="210211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212B"/>
                </a:solidFill>
                <a:latin typeface="Public Sans" pitchFamily="34" charset="0"/>
                <a:ea typeface="Public Sans" pitchFamily="34" charset="-122"/>
                <a:cs typeface="Public Sans" pitchFamily="34" charset="-120"/>
              </a:rPr>
              <a:t>Climb</a:t>
            </a:r>
            <a:endParaRPr lang="en-US" sz="1800" dirty="0"/>
          </a:p>
        </p:txBody>
      </p:sp>
      <p:sp>
        <p:nvSpPr>
          <p:cNvPr id="18" name="Text 13"/>
          <p:cNvSpPr/>
          <p:nvPr/>
        </p:nvSpPr>
        <p:spPr>
          <a:xfrm>
            <a:off x="6418580" y="3088639"/>
            <a:ext cx="2102117"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752"/>
                </a:solidFill>
                <a:latin typeface="Public Sans" pitchFamily="34" charset="0"/>
                <a:ea typeface="Public Sans" pitchFamily="34" charset="-122"/>
                <a:cs typeface="Public Sans" pitchFamily="34" charset="-120"/>
              </a:rPr>
              <a:t>Pose tracking spots the start (feet off the floor), a top (both hands on the top hold) or a fall.</a:t>
            </a:r>
            <a:endParaRPr lang="en-US" sz="1400" dirty="0"/>
          </a:p>
        </p:txBody>
      </p:sp>
      <p:sp>
        <p:nvSpPr>
          <p:cNvPr id="19" name="Shape 14"/>
          <p:cNvSpPr/>
          <p:nvPr/>
        </p:nvSpPr>
        <p:spPr>
          <a:xfrm>
            <a:off x="8874125" y="1938654"/>
            <a:ext cx="2501900" cy="2625090"/>
          </a:xfrm>
          <a:prstGeom prst="roundRect">
            <a:avLst>
              <a:gd name="adj" fmla="val 3934"/>
            </a:avLst>
          </a:prstGeom>
          <a:solidFill>
            <a:srgbClr val="FBFAF6"/>
          </a:solidFill>
          <a:ln w="6350">
            <a:solidFill>
              <a:srgbClr val="DCD8CC"/>
            </a:solidFill>
            <a:prstDash val="solid"/>
          </a:ln>
        </p:spPr>
      </p:sp>
      <p:sp>
        <p:nvSpPr>
          <p:cNvPr id="20" name="Text 15"/>
          <p:cNvSpPr/>
          <p:nvPr/>
        </p:nvSpPr>
        <p:spPr>
          <a:xfrm>
            <a:off x="9104630" y="2169161"/>
            <a:ext cx="194733"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4F6810"/>
                </a:solidFill>
                <a:latin typeface="Oswald" pitchFamily="34" charset="0"/>
                <a:ea typeface="Oswald" pitchFamily="34" charset="-122"/>
                <a:cs typeface="Oswald" pitchFamily="34" charset="-120"/>
              </a:rPr>
              <a:t>4</a:t>
            </a:r>
            <a:endParaRPr lang="en-US" sz="2200" dirty="0"/>
          </a:p>
        </p:txBody>
      </p:sp>
      <p:pic>
        <p:nvPicPr>
          <p:cNvPr id="21" name="Image 3" descr="Book">    </p:cNvPr>
          <p:cNvPicPr>
            <a:picLocks noChangeAspect="1"/>
          </p:cNvPicPr>
          <p:nvPr/>
        </p:nvPicPr>
        <p:blipFill>
          <a:blip r:embed="rId4"/>
          <a:srcRect l="0" r="0" t="0" b="0"/>
          <a:stretch/>
        </p:blipFill>
        <p:spPr>
          <a:xfrm>
            <a:off x="9350163" y="2225039"/>
            <a:ext cx="279400" cy="279400"/>
          </a:xfrm>
          <a:prstGeom prst="rect">
            <a:avLst/>
          </a:prstGeom>
        </p:spPr>
      </p:pic>
      <p:sp>
        <p:nvSpPr>
          <p:cNvPr id="22" name="Text 16"/>
          <p:cNvSpPr/>
          <p:nvPr/>
        </p:nvSpPr>
        <p:spPr>
          <a:xfrm>
            <a:off x="9104630" y="2687321"/>
            <a:ext cx="210211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212B"/>
                </a:solidFill>
                <a:latin typeface="Public Sans" pitchFamily="34" charset="0"/>
                <a:ea typeface="Public Sans" pitchFamily="34" charset="-122"/>
                <a:cs typeface="Public Sans" pitchFamily="34" charset="-120"/>
              </a:rPr>
              <a:t>Logged</a:t>
            </a:r>
            <a:endParaRPr lang="en-US" sz="1800" dirty="0"/>
          </a:p>
        </p:txBody>
      </p:sp>
      <p:sp>
        <p:nvSpPr>
          <p:cNvPr id="23" name="Text 17"/>
          <p:cNvSpPr/>
          <p:nvPr/>
        </p:nvSpPr>
        <p:spPr>
          <a:xfrm>
            <a:off x="9104630" y="3088639"/>
            <a:ext cx="2102117" cy="12700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752"/>
                </a:solidFill>
                <a:latin typeface="Public Sans" pitchFamily="34" charset="0"/>
                <a:ea typeface="Public Sans" pitchFamily="34" charset="-122"/>
                <a:cs typeface="Public Sans" pitchFamily="34" charset="-120"/>
              </a:rPr>
              <a:t>Recording stops 3 s after landing. The attempt is saved with grade, outcome and video.</a:t>
            </a:r>
            <a:endParaRPr lang="en-US" sz="1400" dirty="0"/>
          </a:p>
        </p:txBody>
      </p:sp>
      <p:sp>
        <p:nvSpPr>
          <p:cNvPr id="24" name="Text 18"/>
          <p:cNvSpPr/>
          <p:nvPr/>
        </p:nvSpPr>
        <p:spPr>
          <a:xfrm>
            <a:off x="812800" y="487172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8212B"/>
                </a:solidFill>
                <a:latin typeface="Public Sans" pitchFamily="34" charset="0"/>
                <a:ea typeface="Public Sans" pitchFamily="34" charset="-122"/>
                <a:cs typeface="Public Sans" pitchFamily="34" charset="-120"/>
              </a:rPr>
              <a:t>Android first, built in Flutter. Everything runs on the phone, and videos stay on the device.</a:t>
            </a:r>
            <a:endParaRPr lang="en-US" sz="1600" dirty="0"/>
          </a:p>
        </p:txBody>
      </p:sp>
      <p:sp>
        <p:nvSpPr>
          <p:cNvPr id="25" name="Text 19"/>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6810"/>
                </a:solidFill>
                <a:latin typeface="Public Sans" pitchFamily="34" charset="0"/>
                <a:ea typeface="Public Sans" pitchFamily="34" charset="-122"/>
                <a:cs typeface="Public Sans" pitchFamily="34" charset="-120"/>
              </a:rPr>
              <a:t>OBJECTIVES</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8212B"/>
                </a:solidFill>
                <a:latin typeface="Oswald" pitchFamily="34" charset="0"/>
                <a:ea typeface="Oswald" pitchFamily="34" charset="-122"/>
                <a:cs typeface="Oswald" pitchFamily="34" charset="-120"/>
              </a:rPr>
              <a:t>Core objectives and how I’ll know</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94839"/>
          <a:ext cx="10556240" cy="2246630"/>
        </p:xfrm>
        <a:graphic>
          <a:graphicData uri="http://schemas.openxmlformats.org/drawingml/2006/table">
            <a:tbl>
              <a:tblPr/>
              <a:tblGrid>
                <a:gridCol w="3589122"/>
                <a:gridCol w="4222496"/>
                <a:gridCol w="2744622"/>
              </a:tblGrid>
              <a:tr h="356870">
                <a:tc>
                  <a:txBody>
                    <a:bodyPr/>
                    <a:lstStyle/>
                    <a:p>
                      <a:pPr indent="0" marL="0">
                        <a:lnSpc>
                          <a:spcPts val="1820"/>
                        </a:lnSpc>
                        <a:buNone/>
                      </a:pPr>
                      <a:r>
                        <a:rPr lang="en-US" sz="1300" b="1" dirty="0">
                          <a:solidFill>
                            <a:srgbClr val="3E4752"/>
                          </a:solidFill>
                          <a:latin typeface="Public Sans" pitchFamily="34" charset="0"/>
                          <a:ea typeface="Public Sans" pitchFamily="34" charset="-122"/>
                          <a:cs typeface="Public Sans" pitchFamily="34" charset="-120"/>
                        </a:rPr>
                        <a:t>Core objective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820"/>
                        </a:lnSpc>
                        <a:buNone/>
                      </a:pPr>
                      <a:r>
                        <a:rPr lang="en-US" sz="1300" b="1" dirty="0">
                          <a:solidFill>
                            <a:srgbClr val="3E4752"/>
                          </a:solidFill>
                          <a:latin typeface="Public Sans" pitchFamily="34" charset="0"/>
                          <a:ea typeface="Public Sans" pitchFamily="34" charset="-122"/>
                          <a:cs typeface="Public Sans" pitchFamily="34" charset="-120"/>
                        </a:rPr>
                        <a:t>Measured against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820"/>
                        </a:lnSpc>
                        <a:buNone/>
                      </a:pPr>
                      <a:r>
                        <a:rPr lang="en-US" sz="1300" b="1" dirty="0">
                          <a:solidFill>
                            <a:srgbClr val="3E4752"/>
                          </a:solidFill>
                          <a:latin typeface="Public Sans" pitchFamily="34" charset="0"/>
                          <a:ea typeface="Public Sans" pitchFamily="34" charset="-122"/>
                          <a:cs typeface="Public Sans" pitchFamily="34" charset="-120"/>
                        </a:rPr>
                        <a:t>Target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r>
              <a:tr h="588010">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1. Route detection by hold colour, top hold confirmed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Hand-labelled wall photos not used for tuning</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≥85% of holds found, ≥80% of outlines real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56870">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2. Automatic start and stop of each attempt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Hand-labelled start and end times on test clips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Within 1 s on ≥90% of clips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56870">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3. Outcome recognition: topped or fell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True outcome of 20+ real attempts in the gym</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≥80% correct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588010">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4. Automatic logging to a logbook</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Attempts logged with no manual input; user testing</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820"/>
                        </a:lnSpc>
                        <a:buNone/>
                      </a:pPr>
                      <a:r>
                        <a:rPr lang="en-US" sz="1300" dirty="0">
                          <a:solidFill>
                            <a:srgbClr val="3E4752"/>
                          </a:solidFill>
                          <a:latin typeface="Public Sans" pitchFamily="34" charset="0"/>
                          <a:ea typeface="Public Sans" pitchFamily="34" charset="-122"/>
                          <a:cs typeface="Public Sans" pitchFamily="34" charset="-120"/>
                        </a:rPr>
                        <a:t>≥90% logged; usability score ≥68</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bl>
          </a:graphicData>
        </a:graphic>
      </p:graphicFrame>
      <p:sp>
        <p:nvSpPr>
          <p:cNvPr id="5" name="Text 2"/>
          <p:cNvSpPr/>
          <p:nvPr/>
        </p:nvSpPr>
        <p:spPr>
          <a:xfrm>
            <a:off x="815975" y="4398646"/>
            <a:ext cx="10560050" cy="641350"/>
          </a:xfrm>
          <a:prstGeom prst="roundRect">
            <a:avLst>
              <a:gd name="adj" fmla="val 15347"/>
            </a:avLst>
          </a:prstGeom>
          <a:solidFill>
            <a:srgbClr val="FBFAF6"/>
          </a:solidFill>
          <a:ln w="6350">
            <a:solidFill>
              <a:srgbClr val="DCD8CC"/>
            </a:solidFill>
            <a:prstDash val="solid"/>
          </a:ln>
        </p:spPr>
        <p:txBody>
          <a:bodyPr wrap="square" lIns="227077" tIns="176277" rIns="0" bIns="150877" rtlCol="0" anchor="t">
            <a:normAutofit/>
          </a:bodyPr>
          <a:lstStyle/>
          <a:p>
            <a:pPr algn="l" indent="0" marL="0">
              <a:lnSpc>
                <a:spcPts val="1820"/>
              </a:lnSpc>
              <a:buNone/>
            </a:pPr>
            <a:r>
              <a:rPr lang="en-US" sz="1300" b="1" dirty="0">
                <a:solidFill>
                  <a:srgbClr val="18212B"/>
                </a:solidFill>
                <a:latin typeface="Public Sans" pitchFamily="34" charset="0"/>
                <a:ea typeface="Public Sans" pitchFamily="34" charset="-122"/>
                <a:cs typeface="Public Sans" pitchFamily="34" charset="-120"/>
              </a:rPr>
              <a:t>Secondary (if time):</a:t>
            </a:r>
            <a:r>
              <a:rPr lang="en-US" sz="1300" dirty="0">
                <a:solidFill>
                  <a:srgbClr val="18212B"/>
                </a:solidFill>
                <a:latin typeface="Public Sans" pitchFamily="34" charset="0"/>
                <a:ea typeface="Public Sans" pitchFamily="34" charset="-122"/>
                <a:cs typeface="Public Sans" pitchFamily="34" charset="-120"/>
              </a:rPr>
              <a:t> stats, calendar, accounts with cloud sync, friends-only feed</a:t>
            </a:r>
            <a:endParaRPr lang="en-US" sz="1300" dirty="0"/>
          </a:p>
        </p:txBody>
      </p:sp>
      <p:sp>
        <p:nvSpPr>
          <p:cNvPr id="6" name="Text 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6810"/>
                </a:solidFill>
                <a:latin typeface="Public Sans" pitchFamily="34" charset="0"/>
                <a:ea typeface="Public Sans" pitchFamily="34" charset="-122"/>
                <a:cs typeface="Public Sans" pitchFamily="34" charset="-120"/>
              </a:rPr>
              <a:t>APPROACH</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8212B"/>
                </a:solidFill>
                <a:latin typeface="Oswald" pitchFamily="34" charset="0"/>
                <a:ea typeface="Oswald" pitchFamily="34" charset="-122"/>
                <a:cs typeface="Oswald" pitchFamily="34" charset="-120"/>
              </a:rPr>
              <a:t>Approach and why</a:t>
            </a:r>
            <a:endParaRPr lang="en-US" sz="3600" dirty="0"/>
          </a:p>
        </p:txBody>
      </p:sp>
      <p:sp>
        <p:nvSpPr>
          <p:cNvPr id="4" name="Text 2"/>
          <p:cNvSpPr/>
          <p:nvPr/>
        </p:nvSpPr>
        <p:spPr>
          <a:xfrm>
            <a:off x="812800" y="185927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752"/>
                </a:solidFill>
                <a:latin typeface="Public Sans" pitchFamily="34" charset="0"/>
                <a:ea typeface="Public Sans" pitchFamily="34" charset="-122"/>
                <a:cs typeface="Public Sans" pitchFamily="34" charset="-120"/>
              </a:rPr>
              <a:t>Attempt tracking, during the climb</a:t>
            </a:r>
            <a:endParaRPr lang="en-US" sz="1200" dirty="0"/>
          </a:p>
        </p:txBody>
      </p:sp>
      <p:sp>
        <p:nvSpPr>
          <p:cNvPr id="5" name="Text 3"/>
          <p:cNvSpPr/>
          <p:nvPr/>
        </p:nvSpPr>
        <p:spPr>
          <a:xfrm>
            <a:off x="812800" y="2161539"/>
            <a:ext cx="2638002" cy="416560"/>
          </a:xfrm>
          <a:prstGeom prst="roundRect">
            <a:avLst>
              <a:gd name="adj" fmla="val 18293"/>
            </a:avLst>
          </a:prstGeom>
          <a:solidFill>
            <a:srgbClr val="18212B"/>
          </a:solidFill>
          <a:ln/>
        </p:spPr>
        <p:txBody>
          <a:bodyPr wrap="none" lIns="0" tIns="0" rIns="0" bIns="0" rtlCol="0" anchor="ctr">
            <a:normAutofit/>
          </a:bodyPr>
          <a:lstStyle/>
          <a:p>
            <a:pPr algn="ctr" indent="0" marL="0">
              <a:lnSpc>
                <a:spcPts val="1680"/>
              </a:lnSpc>
              <a:buNone/>
            </a:pPr>
            <a:r>
              <a:rPr lang="en-US" sz="1200" dirty="0">
                <a:solidFill>
                  <a:srgbClr val="F3F1EA"/>
                </a:solidFill>
                <a:latin typeface="Public Sans" pitchFamily="34" charset="0"/>
                <a:ea typeface="Public Sans" pitchFamily="34" charset="-122"/>
                <a:cs typeface="Public Sans" pitchFamily="34" charset="-120"/>
              </a:rPr>
              <a:t>Pre-trained pose (33 body points)</a:t>
            </a:r>
            <a:endParaRPr lang="en-US" sz="1200" dirty="0"/>
          </a:p>
        </p:txBody>
      </p:sp>
      <p:sp>
        <p:nvSpPr>
          <p:cNvPr id="6" name="Text 4"/>
          <p:cNvSpPr/>
          <p:nvPr/>
        </p:nvSpPr>
        <p:spPr>
          <a:xfrm>
            <a:off x="3539702" y="2245361"/>
            <a:ext cx="2286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7480"/>
                </a:solidFill>
                <a:latin typeface="Public Sans" pitchFamily="34" charset="0"/>
                <a:ea typeface="Public Sans" pitchFamily="34" charset="-122"/>
                <a:cs typeface="Public Sans" pitchFamily="34" charset="-120"/>
              </a:rPr>
              <a:t>→</a:t>
            </a:r>
            <a:endParaRPr lang="en-US" sz="1400" dirty="0"/>
          </a:p>
        </p:txBody>
      </p:sp>
      <p:sp>
        <p:nvSpPr>
          <p:cNvPr id="7" name="Text 5"/>
          <p:cNvSpPr/>
          <p:nvPr/>
        </p:nvSpPr>
        <p:spPr>
          <a:xfrm>
            <a:off x="3806402" y="2161539"/>
            <a:ext cx="1752812" cy="416560"/>
          </a:xfrm>
          <a:prstGeom prst="roundRect">
            <a:avLst>
              <a:gd name="adj" fmla="val 18293"/>
            </a:avLst>
          </a:prstGeom>
          <a:solidFill>
            <a:srgbClr val="18212B"/>
          </a:solidFill>
          <a:ln/>
        </p:spPr>
        <p:txBody>
          <a:bodyPr wrap="none" lIns="0" tIns="0" rIns="0" bIns="0" rtlCol="0" anchor="ctr">
            <a:normAutofit/>
          </a:bodyPr>
          <a:lstStyle/>
          <a:p>
            <a:pPr algn="ctr" indent="0" marL="0">
              <a:lnSpc>
                <a:spcPts val="1680"/>
              </a:lnSpc>
              <a:buNone/>
            </a:pPr>
            <a:r>
              <a:rPr lang="en-US" sz="1200" dirty="0">
                <a:solidFill>
                  <a:srgbClr val="F3F1EA"/>
                </a:solidFill>
                <a:latin typeface="Public Sans" pitchFamily="34" charset="0"/>
                <a:ea typeface="Public Sans" pitchFamily="34" charset="-122"/>
                <a:cs typeface="Public Sans" pitchFamily="34" charset="-120"/>
              </a:rPr>
              <a:t>Start / top / fall rules</a:t>
            </a:r>
            <a:endParaRPr lang="en-US" sz="1200" dirty="0"/>
          </a:p>
        </p:txBody>
      </p:sp>
      <p:sp>
        <p:nvSpPr>
          <p:cNvPr id="8" name="Text 6"/>
          <p:cNvSpPr/>
          <p:nvPr/>
        </p:nvSpPr>
        <p:spPr>
          <a:xfrm>
            <a:off x="5648113" y="2245361"/>
            <a:ext cx="2286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7480"/>
                </a:solidFill>
                <a:latin typeface="Public Sans" pitchFamily="34" charset="0"/>
                <a:ea typeface="Public Sans" pitchFamily="34" charset="-122"/>
                <a:cs typeface="Public Sans" pitchFamily="34" charset="-120"/>
              </a:rPr>
              <a:t>→</a:t>
            </a:r>
            <a:endParaRPr lang="en-US" sz="1400" dirty="0"/>
          </a:p>
        </p:txBody>
      </p:sp>
      <p:sp>
        <p:nvSpPr>
          <p:cNvPr id="9" name="Text 7"/>
          <p:cNvSpPr/>
          <p:nvPr/>
        </p:nvSpPr>
        <p:spPr>
          <a:xfrm>
            <a:off x="5914813" y="2161539"/>
            <a:ext cx="1362816" cy="416560"/>
          </a:xfrm>
          <a:prstGeom prst="roundRect">
            <a:avLst>
              <a:gd name="adj" fmla="val 18293"/>
            </a:avLst>
          </a:prstGeom>
          <a:solidFill>
            <a:srgbClr val="B8E04A"/>
          </a:solidFill>
          <a:ln/>
        </p:spPr>
        <p:txBody>
          <a:bodyPr wrap="none" lIns="0" tIns="0" rIns="0" bIns="0" rtlCol="0" anchor="ctr">
            <a:normAutofit/>
          </a:bodyPr>
          <a:lstStyle/>
          <a:p>
            <a:pPr algn="ctr" indent="0" marL="0">
              <a:lnSpc>
                <a:spcPts val="1680"/>
              </a:lnSpc>
              <a:buNone/>
            </a:pPr>
            <a:r>
              <a:rPr lang="en-US" sz="1200" b="1" dirty="0">
                <a:solidFill>
                  <a:srgbClr val="18212B"/>
                </a:solidFill>
                <a:latin typeface="Public Sans" pitchFamily="34" charset="0"/>
                <a:ea typeface="Public Sans" pitchFamily="34" charset="-122"/>
                <a:cs typeface="Public Sans" pitchFamily="34" charset="-120"/>
              </a:rPr>
              <a:t>Record and log</a:t>
            </a:r>
            <a:endParaRPr lang="en-US" sz="1200" dirty="0"/>
          </a:p>
        </p:txBody>
      </p:sp>
      <p:sp>
        <p:nvSpPr>
          <p:cNvPr id="10" name="Shape 8"/>
          <p:cNvSpPr/>
          <p:nvPr/>
        </p:nvSpPr>
        <p:spPr>
          <a:xfrm>
            <a:off x="815975" y="2809875"/>
            <a:ext cx="3397250" cy="1355090"/>
          </a:xfrm>
          <a:prstGeom prst="roundRect">
            <a:avLst>
              <a:gd name="adj" fmla="val 7263"/>
            </a:avLst>
          </a:prstGeom>
          <a:solidFill>
            <a:srgbClr val="FBFAF6"/>
          </a:solidFill>
          <a:ln w="6350">
            <a:solidFill>
              <a:srgbClr val="DCD8CC"/>
            </a:solidFill>
            <a:prstDash val="solid"/>
          </a:ln>
        </p:spPr>
      </p:sp>
      <p:sp>
        <p:nvSpPr>
          <p:cNvPr id="11" name="Text 9"/>
          <p:cNvSpPr/>
          <p:nvPr/>
        </p:nvSpPr>
        <p:spPr>
          <a:xfrm>
            <a:off x="1021080" y="3014979"/>
            <a:ext cx="30766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B"/>
                </a:solidFill>
                <a:latin typeface="Public Sans" pitchFamily="34" charset="0"/>
                <a:ea typeface="Public Sans" pitchFamily="34" charset="-122"/>
                <a:cs typeface="Public Sans" pitchFamily="34" charset="-120"/>
              </a:rPr>
              <a:t>Classic OpenCV</a:t>
            </a:r>
            <a:endParaRPr lang="en-US" sz="1500" dirty="0"/>
          </a:p>
        </p:txBody>
      </p:sp>
      <p:sp>
        <p:nvSpPr>
          <p:cNvPr id="12" name="Text 10"/>
          <p:cNvSpPr/>
          <p:nvPr/>
        </p:nvSpPr>
        <p:spPr>
          <a:xfrm>
            <a:off x="1021080" y="3319779"/>
            <a:ext cx="307665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No training data needed, fast on a phone, easy to tune and explain. A trained detector (YOLO) is a comparison for later.</a:t>
            </a:r>
            <a:endParaRPr lang="en-US" sz="1200" dirty="0"/>
          </a:p>
        </p:txBody>
      </p:sp>
      <p:sp>
        <p:nvSpPr>
          <p:cNvPr id="13" name="Shape 11"/>
          <p:cNvSpPr/>
          <p:nvPr/>
        </p:nvSpPr>
        <p:spPr>
          <a:xfrm>
            <a:off x="4397375" y="2809875"/>
            <a:ext cx="3397250" cy="1355090"/>
          </a:xfrm>
          <a:prstGeom prst="roundRect">
            <a:avLst>
              <a:gd name="adj" fmla="val 7263"/>
            </a:avLst>
          </a:prstGeom>
          <a:solidFill>
            <a:srgbClr val="FBFAF6"/>
          </a:solidFill>
          <a:ln w="6350">
            <a:solidFill>
              <a:srgbClr val="DCD8CC"/>
            </a:solidFill>
            <a:prstDash val="solid"/>
          </a:ln>
        </p:spPr>
      </p:sp>
      <p:sp>
        <p:nvSpPr>
          <p:cNvPr id="14" name="Text 12"/>
          <p:cNvSpPr/>
          <p:nvPr/>
        </p:nvSpPr>
        <p:spPr>
          <a:xfrm>
            <a:off x="4602480" y="3014979"/>
            <a:ext cx="30766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B"/>
                </a:solidFill>
                <a:latin typeface="Public Sans" pitchFamily="34" charset="0"/>
                <a:ea typeface="Public Sans" pitchFamily="34" charset="-122"/>
                <a:cs typeface="Public Sans" pitchFamily="34" charset="-120"/>
              </a:rPr>
              <a:t>Pre-trained pose</a:t>
            </a:r>
            <a:endParaRPr lang="en-US" sz="1500" dirty="0"/>
          </a:p>
        </p:txBody>
      </p:sp>
      <p:sp>
        <p:nvSpPr>
          <p:cNvPr id="15" name="Text 13"/>
          <p:cNvSpPr/>
          <p:nvPr/>
        </p:nvSpPr>
        <p:spPr>
          <a:xfrm>
            <a:off x="4602480" y="3319779"/>
            <a:ext cx="307665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MediaPipe (Python) and ML Kit (Flutter) use the same 33-point body model. Free and on-device.</a:t>
            </a:r>
            <a:endParaRPr lang="en-US" sz="1200" dirty="0"/>
          </a:p>
        </p:txBody>
      </p:sp>
      <p:sp>
        <p:nvSpPr>
          <p:cNvPr id="16" name="Shape 14"/>
          <p:cNvSpPr/>
          <p:nvPr/>
        </p:nvSpPr>
        <p:spPr>
          <a:xfrm>
            <a:off x="7978775" y="2809875"/>
            <a:ext cx="3397250" cy="1355090"/>
          </a:xfrm>
          <a:prstGeom prst="roundRect">
            <a:avLst>
              <a:gd name="adj" fmla="val 7263"/>
            </a:avLst>
          </a:prstGeom>
          <a:solidFill>
            <a:srgbClr val="FBFAF6"/>
          </a:solidFill>
          <a:ln w="6350">
            <a:solidFill>
              <a:srgbClr val="DCD8CC"/>
            </a:solidFill>
            <a:prstDash val="solid"/>
          </a:ln>
        </p:spPr>
      </p:sp>
      <p:sp>
        <p:nvSpPr>
          <p:cNvPr id="17" name="Text 15"/>
          <p:cNvSpPr/>
          <p:nvPr/>
        </p:nvSpPr>
        <p:spPr>
          <a:xfrm>
            <a:off x="8183880" y="3014979"/>
            <a:ext cx="30766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B"/>
                </a:solidFill>
                <a:latin typeface="Public Sans" pitchFamily="34" charset="0"/>
                <a:ea typeface="Public Sans" pitchFamily="34" charset="-122"/>
                <a:cs typeface="Public Sans" pitchFamily="34" charset="-120"/>
              </a:rPr>
              <a:t>Prototype, then build</a:t>
            </a:r>
            <a:endParaRPr lang="en-US" sz="1500" dirty="0"/>
          </a:p>
        </p:txBody>
      </p:sp>
      <p:sp>
        <p:nvSpPr>
          <p:cNvPr id="18" name="Text 16"/>
          <p:cNvSpPr/>
          <p:nvPr/>
        </p:nvSpPr>
        <p:spPr>
          <a:xfrm>
            <a:off x="8183880" y="3319779"/>
            <a:ext cx="307665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Test methods quickly in Python on real clips, then port to Flutter (Dart). Python stays as the evaluation tool.</a:t>
            </a:r>
            <a:endParaRPr lang="en-US" sz="1200" dirty="0"/>
          </a:p>
        </p:txBody>
      </p:sp>
      <p:sp>
        <p:nvSpPr>
          <p:cNvPr id="19" name="Text 17"/>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6810"/>
                </a:solidFill>
                <a:latin typeface="Public Sans" pitchFamily="34" charset="0"/>
                <a:ea typeface="Public Sans" pitchFamily="34" charset="-122"/>
                <a:cs typeface="Public Sans" pitchFamily="34" charset="-120"/>
              </a:rPr>
              <a:t>APPROACH</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8212B"/>
                </a:solidFill>
                <a:latin typeface="Oswald" pitchFamily="34" charset="0"/>
                <a:ea typeface="Oswald" pitchFamily="34" charset="-122"/>
                <a:cs typeface="Oswald" pitchFamily="34" charset="-120"/>
              </a:rPr>
              <a:t>How hold detection works</a:t>
            </a:r>
            <a:endParaRPr lang="en-US" sz="3600" dirty="0"/>
          </a:p>
        </p:txBody>
      </p:sp>
      <p:sp>
        <p:nvSpPr>
          <p:cNvPr id="4" name="Text 2"/>
          <p:cNvSpPr/>
          <p:nvPr/>
        </p:nvSpPr>
        <p:spPr>
          <a:xfrm>
            <a:off x="861589" y="1884679"/>
            <a:ext cx="6013175" cy="3972560"/>
          </a:xfrm>
          <a:prstGeom prst="rect">
            <a:avLst/>
          </a:prstGeom>
          <a:noFill/>
          <a:ln/>
        </p:spPr>
        <p:txBody>
          <a:bodyPr wrap="square" lIns="0" tIns="0" rIns="0" bIns="0" rtlCol="0" anchor="t">
            <a:normAutofit/>
          </a:bodyPr>
          <a:lstStyle/>
          <a:p>
            <a:pPr algn="l" marL="205211" indent="-205211">
              <a:lnSpc>
                <a:spcPts val="1820"/>
              </a:lnSpc>
              <a:buSzPct val="100000"/>
              <a:buFontTx/>
              <a:buAutoNum type="arabicPeriod" startAt="1"/>
            </a:pPr>
            <a:r>
              <a:rPr lang="en-US" sz="1300" b="1" dirty="0">
                <a:solidFill>
                  <a:srgbClr val="3E4752"/>
                </a:solidFill>
                <a:latin typeface="Public Sans" pitchFamily="34" charset="0"/>
                <a:ea typeface="Public Sans" pitchFamily="34" charset="-122"/>
                <a:cs typeface="Public Sans" pitchFamily="34" charset="-120"/>
              </a:rPr>
              <a:t>Still frame</a:t>
            </a:r>
            <a:r>
              <a:rPr lang="en-US" sz="1300" dirty="0">
                <a:solidFill>
                  <a:srgbClr val="3E4752"/>
                </a:solidFill>
                <a:latin typeface="Public Sans" pitchFamily="34" charset="0"/>
                <a:ea typeface="Public Sans" pitchFamily="34" charset="-122"/>
                <a:cs typeface="Public Sans" pitchFamily="34" charset="-120"/>
              </a:rPr>
              <a:t>, taken before the climber steps in</a:t>
            </a:r>
            <a:endParaRPr lang="en-US" sz="1300" dirty="0"/>
          </a:p>
          <a:p>
            <a:pPr algn="l" marL="205211" indent="-205211">
              <a:lnSpc>
                <a:spcPts val="1820"/>
              </a:lnSpc>
              <a:buSzPct val="100000"/>
              <a:buFontTx/>
              <a:buAutoNum type="arabicPeriod" startAt="1"/>
            </a:pPr>
            <a:r>
              <a:rPr lang="en-US" sz="1300" b="1" dirty="0">
                <a:solidFill>
                  <a:srgbClr val="3E4752"/>
                </a:solidFill>
                <a:latin typeface="Public Sans" pitchFamily="34" charset="0"/>
                <a:ea typeface="Public Sans" pitchFamily="34" charset="-122"/>
                <a:cs typeface="Public Sans" pitchFamily="34" charset="-120"/>
              </a:rPr>
              <a:t>Convert to HSV</a:t>
            </a:r>
            <a:r>
              <a:rPr lang="en-US" sz="1300" dirty="0">
                <a:solidFill>
                  <a:srgbClr val="3E4752"/>
                </a:solidFill>
                <a:latin typeface="Public Sans" pitchFamily="34" charset="0"/>
                <a:ea typeface="Public Sans" pitchFamily="34" charset="-122"/>
                <a:cs typeface="Public Sans" pitchFamily="34" charset="-120"/>
              </a:rPr>
              <a:t>, which separates colour from brightness so shadows matter less</a:t>
            </a:r>
            <a:endParaRPr lang="en-US" sz="1300" dirty="0"/>
          </a:p>
          <a:p>
            <a:pPr algn="l" marL="205211" indent="-205211">
              <a:lnSpc>
                <a:spcPts val="1820"/>
              </a:lnSpc>
              <a:buSzPct val="100000"/>
              <a:buFontTx/>
              <a:buAutoNum type="arabicPeriod" startAt="1"/>
            </a:pPr>
            <a:r>
              <a:rPr lang="en-US" sz="1300" b="1" dirty="0">
                <a:solidFill>
                  <a:srgbClr val="3E4752"/>
                </a:solidFill>
                <a:latin typeface="Public Sans" pitchFamily="34" charset="0"/>
                <a:ea typeface="Public Sans" pitchFamily="34" charset="-122"/>
                <a:cs typeface="Public Sans" pitchFamily="34" charset="-120"/>
              </a:rPr>
              <a:t>Colour mask:</a:t>
            </a:r>
            <a:r>
              <a:rPr lang="en-US" sz="1300" dirty="0">
                <a:solidFill>
                  <a:srgbClr val="3E4752"/>
                </a:solidFill>
                <a:latin typeface="Public Sans" pitchFamily="34" charset="0"/>
                <a:ea typeface="Public Sans" pitchFamily="34" charset="-122"/>
                <a:cs typeface="Public Sans" pitchFamily="34" charset="-120"/>
              </a:rPr>
              <a:t> keep pixels inside the hold’s colour range, set by hand or by tapping a hold (white = match)</a:t>
            </a:r>
            <a:endParaRPr lang="en-US" sz="1300" dirty="0"/>
          </a:p>
          <a:p>
            <a:pPr algn="l" marL="205211" indent="-205211">
              <a:lnSpc>
                <a:spcPts val="1820"/>
              </a:lnSpc>
              <a:buSzPct val="100000"/>
              <a:buFontTx/>
              <a:buAutoNum type="arabicPeriod" startAt="1"/>
            </a:pPr>
            <a:r>
              <a:rPr lang="en-US" sz="1300" b="1" dirty="0">
                <a:solidFill>
                  <a:srgbClr val="3E4752"/>
                </a:solidFill>
                <a:latin typeface="Public Sans" pitchFamily="34" charset="0"/>
                <a:ea typeface="Public Sans" pitchFamily="34" charset="-122"/>
                <a:cs typeface="Public Sans" pitchFamily="34" charset="-120"/>
              </a:rPr>
              <a:t>Clean up:</a:t>
            </a:r>
            <a:r>
              <a:rPr lang="en-US" sz="1300" dirty="0">
                <a:solidFill>
                  <a:srgbClr val="3E4752"/>
                </a:solidFill>
                <a:latin typeface="Public Sans" pitchFamily="34" charset="0"/>
                <a:ea typeface="Public Sans" pitchFamily="34" charset="-122"/>
                <a:cs typeface="Public Sans" pitchFamily="34" charset="-120"/>
              </a:rPr>
              <a:t> remove specks and fill small gaps</a:t>
            </a:r>
            <a:endParaRPr lang="en-US" sz="1300" dirty="0"/>
          </a:p>
          <a:p>
            <a:pPr algn="l" marL="205211" indent="-205211">
              <a:lnSpc>
                <a:spcPts val="1820"/>
              </a:lnSpc>
              <a:buSzPct val="100000"/>
              <a:buFontTx/>
              <a:buAutoNum type="arabicPeriod" startAt="1"/>
            </a:pPr>
            <a:r>
              <a:rPr lang="en-US" sz="1300" b="1" dirty="0">
                <a:solidFill>
                  <a:srgbClr val="3E4752"/>
                </a:solidFill>
                <a:latin typeface="Public Sans" pitchFamily="34" charset="0"/>
                <a:ea typeface="Public Sans" pitchFamily="34" charset="-122"/>
                <a:cs typeface="Public Sans" pitchFamily="34" charset="-120"/>
              </a:rPr>
              <a:t>Find outlines</a:t>
            </a:r>
            <a:r>
              <a:rPr lang="en-US" sz="1300" dirty="0">
                <a:solidFill>
                  <a:srgbClr val="3E4752"/>
                </a:solidFill>
                <a:latin typeface="Public Sans" pitchFamily="34" charset="0"/>
                <a:ea typeface="Public Sans" pitchFamily="34" charset="-122"/>
                <a:cs typeface="Public Sans" pitchFamily="34" charset="-120"/>
              </a:rPr>
              <a:t> of each white blob</a:t>
            </a:r>
            <a:endParaRPr lang="en-US" sz="1300" dirty="0"/>
          </a:p>
          <a:p>
            <a:pPr algn="l" marL="205211" indent="-205211">
              <a:lnSpc>
                <a:spcPts val="1820"/>
              </a:lnSpc>
              <a:buSzPct val="100000"/>
              <a:buFontTx/>
              <a:buAutoNum type="arabicPeriod" startAt="1"/>
            </a:pPr>
            <a:r>
              <a:rPr lang="en-US" sz="1300" b="1" dirty="0">
                <a:solidFill>
                  <a:srgbClr val="3E4752"/>
                </a:solidFill>
                <a:latin typeface="Public Sans" pitchFamily="34" charset="0"/>
                <a:ea typeface="Public Sans" pitchFamily="34" charset="-122"/>
                <a:cs typeface="Public Sans" pitchFamily="34" charset="-120"/>
              </a:rPr>
              <a:t>Size filter:</a:t>
            </a:r>
            <a:r>
              <a:rPr lang="en-US" sz="1300" dirty="0">
                <a:solidFill>
                  <a:srgbClr val="3E4752"/>
                </a:solidFill>
                <a:latin typeface="Public Sans" pitchFamily="34" charset="0"/>
                <a:ea typeface="Public Sans" pitchFamily="34" charset="-122"/>
                <a:cs typeface="Public Sans" pitchFamily="34" charset="-120"/>
              </a:rPr>
              <a:t> drop blobs too small or too big to be holds, such as specks and wall panels</a:t>
            </a:r>
            <a:endParaRPr lang="en-US" sz="1300" dirty="0"/>
          </a:p>
        </p:txBody>
      </p:sp>
      <p:pic>
        <p:nvPicPr>
          <p:cNvPr id="5" name="Image 0" descr="Black and white mask of the pink route: white blobs where pink pixels were found, plus a few small specks">    </p:cNvPr>
          <p:cNvPicPr>
            <a:picLocks noChangeAspect="1"/>
          </p:cNvPicPr>
          <p:nvPr/>
        </p:nvPicPr>
        <p:blipFill>
          <a:blip r:embed="rId1"/>
          <a:srcRect l="0" r="0" t="0" b="0"/>
          <a:stretch/>
        </p:blipFill>
        <p:spPr>
          <a:xfrm>
            <a:off x="7112000" y="1884679"/>
            <a:ext cx="2057400" cy="3657600"/>
          </a:xfrm>
          <a:prstGeom prst="roundRect">
            <a:avLst>
              <a:gd name="adj" fmla="val 3704"/>
            </a:avLst>
          </a:prstGeom>
        </p:spPr>
      </p:pic>
      <p:sp>
        <p:nvSpPr>
          <p:cNvPr id="6" name="Text 3"/>
          <p:cNvSpPr/>
          <p:nvPr/>
        </p:nvSpPr>
        <p:spPr>
          <a:xfrm>
            <a:off x="7112000" y="5618479"/>
            <a:ext cx="211912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212B"/>
                </a:solidFill>
                <a:latin typeface="Public Sans" pitchFamily="34" charset="0"/>
                <a:ea typeface="Public Sans" pitchFamily="34" charset="-122"/>
                <a:cs typeface="Public Sans" pitchFamily="34" charset="-120"/>
              </a:rPr>
              <a:t>Mask (steps 3–4)</a:t>
            </a:r>
            <a:endParaRPr lang="en-US" sz="1200" dirty="0"/>
          </a:p>
        </p:txBody>
      </p:sp>
      <p:pic>
        <p:nvPicPr>
          <p:cNvPr id="7" name="Image 1" descr="The same pink route with all 13 holds outlined and numbered">    </p:cNvPr>
          <p:cNvPicPr>
            <a:picLocks noChangeAspect="1"/>
          </p:cNvPicPr>
          <p:nvPr/>
        </p:nvPicPr>
        <p:blipFill>
          <a:blip r:embed="rId2"/>
          <a:srcRect l="0" r="0" t="0" b="0"/>
          <a:stretch/>
        </p:blipFill>
        <p:spPr>
          <a:xfrm>
            <a:off x="9321800" y="1884679"/>
            <a:ext cx="2057400" cy="3657600"/>
          </a:xfrm>
          <a:prstGeom prst="roundRect">
            <a:avLst>
              <a:gd name="adj" fmla="val 3704"/>
            </a:avLst>
          </a:prstGeom>
        </p:spPr>
      </p:pic>
      <p:sp>
        <p:nvSpPr>
          <p:cNvPr id="8" name="Text 4"/>
          <p:cNvSpPr/>
          <p:nvPr/>
        </p:nvSpPr>
        <p:spPr>
          <a:xfrm>
            <a:off x="9321800" y="5618479"/>
            <a:ext cx="211912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212B"/>
                </a:solidFill>
                <a:latin typeface="Public Sans" pitchFamily="34" charset="0"/>
                <a:ea typeface="Public Sans" pitchFamily="34" charset="-122"/>
                <a:cs typeface="Public Sans" pitchFamily="34" charset="-120"/>
              </a:rPr>
              <a:t>Result (steps 5–6)</a:t>
            </a:r>
            <a:endParaRPr lang="en-US" sz="1200" dirty="0"/>
          </a:p>
        </p:txBody>
      </p:sp>
      <p:sp>
        <p:nvSpPr>
          <p:cNvPr id="9" name="Text 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6810"/>
                </a:solidFill>
                <a:latin typeface="Public Sans" pitchFamily="34" charset="0"/>
                <a:ea typeface="Public Sans" pitchFamily="34" charset="-122"/>
                <a:cs typeface="Public Sans" pitchFamily="34" charset="-120"/>
              </a:rPr>
              <a:t>WORK TO DATE</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8212B"/>
                </a:solidFill>
                <a:latin typeface="Oswald" pitchFamily="34" charset="0"/>
                <a:ea typeface="Oswald" pitchFamily="34" charset="-122"/>
                <a:cs typeface="Oswald" pitchFamily="34" charset="-120"/>
              </a:rPr>
              <a:t>My hold detection tuning tool</a:t>
            </a:r>
            <a:endParaRPr lang="en-US" sz="3600" dirty="0"/>
          </a:p>
        </p:txBody>
      </p:sp>
      <p:sp>
        <p:nvSpPr>
          <p:cNvPr id="4" name="Shape 2"/>
          <p:cNvSpPr/>
          <p:nvPr/>
        </p:nvSpPr>
        <p:spPr>
          <a:xfrm>
            <a:off x="812800" y="1884679"/>
            <a:ext cx="6985000" cy="3956050"/>
          </a:xfrm>
          <a:prstGeom prst="roundRect">
            <a:avLst>
              <a:gd name="adj" fmla="val 1926"/>
            </a:avLst>
          </a:prstGeom>
          <a:solidFill>
            <a:srgbClr val="18212B"/>
          </a:solidFill>
          <a:ln/>
        </p:spPr>
      </p:sp>
      <p:pic>
        <p:nvPicPr>
          <p:cNvPr id="5" name="Image 0" descr="Screenshot of the tuning tool: a controls window with colour, vividness, brightness, clean-up and hold size sliders, and a view window showing the detected holds next to the black and white mask">    </p:cNvPr>
          <p:cNvPicPr>
            <a:picLocks noChangeAspect="1"/>
          </p:cNvPicPr>
          <p:nvPr/>
        </p:nvPicPr>
        <p:blipFill>
          <a:blip r:embed="rId1"/>
          <a:srcRect l="0" r="0" t="-13" b="-13"/>
          <a:stretch/>
        </p:blipFill>
        <p:spPr>
          <a:xfrm>
            <a:off x="812800" y="1884679"/>
            <a:ext cx="6985000" cy="3956050"/>
          </a:xfrm>
          <a:prstGeom prst="roundRect">
            <a:avLst>
              <a:gd name="adj" fmla="val 1926"/>
            </a:avLst>
          </a:prstGeom>
        </p:spPr>
      </p:pic>
      <p:sp>
        <p:nvSpPr>
          <p:cNvPr id="6" name="Text 3"/>
          <p:cNvSpPr/>
          <p:nvPr/>
        </p:nvSpPr>
        <p:spPr>
          <a:xfrm>
            <a:off x="8102600" y="1884679"/>
            <a:ext cx="337489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12B"/>
                </a:solidFill>
                <a:latin typeface="Public Sans" pitchFamily="34" charset="0"/>
                <a:ea typeface="Public Sans" pitchFamily="34" charset="-122"/>
                <a:cs typeface="Public Sans" pitchFamily="34" charset="-120"/>
              </a:rPr>
              <a:t>Six sliders</a:t>
            </a:r>
            <a:endParaRPr lang="en-US" sz="1400" dirty="0"/>
          </a:p>
        </p:txBody>
      </p:sp>
      <p:sp>
        <p:nvSpPr>
          <p:cNvPr id="7" name="Text 4"/>
          <p:cNvSpPr/>
          <p:nvPr/>
        </p:nvSpPr>
        <p:spPr>
          <a:xfrm>
            <a:off x="8102600" y="2136142"/>
            <a:ext cx="337489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Colour, vividness, brightness, clean-up, min and max hold size</a:t>
            </a:r>
            <a:endParaRPr lang="en-US" sz="1200" dirty="0"/>
          </a:p>
        </p:txBody>
      </p:sp>
      <p:sp>
        <p:nvSpPr>
          <p:cNvPr id="8" name="Text 5"/>
          <p:cNvSpPr/>
          <p:nvPr/>
        </p:nvSpPr>
        <p:spPr>
          <a:xfrm>
            <a:off x="8102600" y="2715258"/>
            <a:ext cx="337489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12B"/>
                </a:solidFill>
                <a:latin typeface="Public Sans" pitchFamily="34" charset="0"/>
                <a:ea typeface="Public Sans" pitchFamily="34" charset="-122"/>
                <a:cs typeface="Public Sans" pitchFamily="34" charset="-120"/>
              </a:rPr>
              <a:t>Live view</a:t>
            </a:r>
            <a:endParaRPr lang="en-US" sz="1400" dirty="0"/>
          </a:p>
        </p:txBody>
      </p:sp>
      <p:sp>
        <p:nvSpPr>
          <p:cNvPr id="9" name="Text 6"/>
          <p:cNvSpPr/>
          <p:nvPr/>
        </p:nvSpPr>
        <p:spPr>
          <a:xfrm>
            <a:off x="8102600" y="2966721"/>
            <a:ext cx="337489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Result and mask side by side, updated as you drag</a:t>
            </a:r>
            <a:endParaRPr lang="en-US" sz="1200" dirty="0"/>
          </a:p>
        </p:txBody>
      </p:sp>
      <p:sp>
        <p:nvSpPr>
          <p:cNvPr id="10" name="Text 7"/>
          <p:cNvSpPr/>
          <p:nvPr/>
        </p:nvSpPr>
        <p:spPr>
          <a:xfrm>
            <a:off x="8102600" y="3545842"/>
            <a:ext cx="337489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12B"/>
                </a:solidFill>
                <a:latin typeface="Public Sans" pitchFamily="34" charset="0"/>
                <a:ea typeface="Public Sans" pitchFamily="34" charset="-122"/>
                <a:cs typeface="Public Sans" pitchFamily="34" charset="-120"/>
              </a:rPr>
              <a:t>Tap mode</a:t>
            </a:r>
            <a:endParaRPr lang="en-US" sz="1400" dirty="0"/>
          </a:p>
        </p:txBody>
      </p:sp>
      <p:sp>
        <p:nvSpPr>
          <p:cNvPr id="11" name="Text 8"/>
          <p:cNvSpPr/>
          <p:nvPr/>
        </p:nvSpPr>
        <p:spPr>
          <a:xfrm>
            <a:off x="8102600" y="3797300"/>
            <a:ext cx="337489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Click one hold to set the colour range automatically</a:t>
            </a:r>
            <a:endParaRPr lang="en-US" sz="1200" dirty="0"/>
          </a:p>
        </p:txBody>
      </p:sp>
      <p:sp>
        <p:nvSpPr>
          <p:cNvPr id="12" name="Text 9"/>
          <p:cNvSpPr/>
          <p:nvPr/>
        </p:nvSpPr>
        <p:spPr>
          <a:xfrm>
            <a:off x="8102600" y="4376421"/>
            <a:ext cx="337489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12B"/>
                </a:solidFill>
                <a:latin typeface="Public Sans" pitchFamily="34" charset="0"/>
                <a:ea typeface="Public Sans" pitchFamily="34" charset="-122"/>
                <a:cs typeface="Public Sans" pitchFamily="34" charset="-120"/>
              </a:rPr>
              <a:t>Results logging</a:t>
            </a:r>
            <a:endParaRPr lang="en-US" sz="1400" dirty="0"/>
          </a:p>
        </p:txBody>
      </p:sp>
      <p:sp>
        <p:nvSpPr>
          <p:cNvPr id="13" name="Text 10"/>
          <p:cNvSpPr/>
          <p:nvPr/>
        </p:nvSpPr>
        <p:spPr>
          <a:xfrm>
            <a:off x="8102600" y="4627879"/>
            <a:ext cx="337489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Saves images and prints a CSV row for each test</a:t>
            </a:r>
            <a:endParaRPr lang="en-US" sz="1200" dirty="0"/>
          </a:p>
        </p:txBody>
      </p:sp>
      <p:sp>
        <p:nvSpPr>
          <p:cNvPr id="14" name="Text 11"/>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Shown before tuning: 36 outlines, including wall panels. After tuning: 13 of 13 pink holds.</a:t>
            </a:r>
            <a:endParaRPr lang="en-US" sz="1200" dirty="0"/>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6810"/>
                </a:solidFill>
                <a:latin typeface="Public Sans" pitchFamily="34" charset="0"/>
                <a:ea typeface="Public Sans" pitchFamily="34" charset="-122"/>
                <a:cs typeface="Public Sans" pitchFamily="34" charset="-120"/>
              </a:rPr>
              <a:t>WORK TO DATE</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8212B"/>
                </a:solidFill>
                <a:latin typeface="Oswald" pitchFamily="34" charset="0"/>
                <a:ea typeface="Oswald" pitchFamily="34" charset="-122"/>
                <a:cs typeface="Oswald" pitchFamily="34" charset="-120"/>
              </a:rPr>
              <a:t>Hold detection prototype: first results</a:t>
            </a:r>
            <a:endParaRPr lang="en-US" sz="3600" dirty="0"/>
          </a:p>
        </p:txBody>
      </p:sp>
      <p:sp>
        <p:nvSpPr>
          <p:cNvPr id="4" name="Shape 2"/>
          <p:cNvSpPr/>
          <p:nvPr/>
        </p:nvSpPr>
        <p:spPr>
          <a:xfrm>
            <a:off x="815975" y="1887854"/>
            <a:ext cx="5175250" cy="2208530"/>
          </a:xfrm>
          <a:prstGeom prst="roundRect">
            <a:avLst>
              <a:gd name="adj" fmla="val 4457"/>
            </a:avLst>
          </a:prstGeom>
          <a:solidFill>
            <a:srgbClr val="FBFAF6"/>
          </a:solidFill>
          <a:ln w="6350">
            <a:solidFill>
              <a:srgbClr val="DCD8CC"/>
            </a:solidFill>
            <a:prstDash val="solid"/>
          </a:ln>
        </p:spPr>
      </p:sp>
      <p:sp>
        <p:nvSpPr>
          <p:cNvPr id="5" name="Text 3"/>
          <p:cNvSpPr/>
          <p:nvPr/>
        </p:nvSpPr>
        <p:spPr>
          <a:xfrm>
            <a:off x="1071880" y="2143758"/>
            <a:ext cx="48033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B"/>
                </a:solidFill>
                <a:latin typeface="Public Sans" pitchFamily="34" charset="0"/>
                <a:ea typeface="Public Sans" pitchFamily="34" charset="-122"/>
                <a:cs typeface="Public Sans" pitchFamily="34" charset="-120"/>
              </a:rPr>
              <a:t>Hand-tuned settings</a:t>
            </a:r>
            <a:endParaRPr lang="en-US" sz="1500" dirty="0"/>
          </a:p>
        </p:txBody>
      </p:sp>
      <p:sp>
        <p:nvSpPr>
          <p:cNvPr id="6" name="Text 4"/>
          <p:cNvSpPr/>
          <p:nvPr/>
        </p:nvSpPr>
        <p:spPr>
          <a:xfrm>
            <a:off x="1071880" y="2499358"/>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11 wall photos, 10 colours, 160 holds</a:t>
            </a:r>
            <a:endParaRPr lang="en-US" sz="1200" dirty="0"/>
          </a:p>
        </p:txBody>
      </p:sp>
      <p:sp>
        <p:nvSpPr>
          <p:cNvPr id="7" name="Text 5"/>
          <p:cNvSpPr/>
          <p:nvPr/>
        </p:nvSpPr>
        <p:spPr>
          <a:xfrm>
            <a:off x="1071880" y="2839721"/>
            <a:ext cx="172085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8212B"/>
                </a:solidFill>
                <a:latin typeface="Oswald" pitchFamily="34" charset="0"/>
                <a:ea typeface="Oswald" pitchFamily="34" charset="-122"/>
                <a:cs typeface="Oswald" pitchFamily="34" charset="-120"/>
              </a:rPr>
              <a:t>81%</a:t>
            </a:r>
            <a:endParaRPr lang="en-US" sz="6000" dirty="0"/>
          </a:p>
        </p:txBody>
      </p:sp>
      <p:sp>
        <p:nvSpPr>
          <p:cNvPr id="8" name="Text 6"/>
          <p:cNvSpPr/>
          <p:nvPr/>
        </p:nvSpPr>
        <p:spPr>
          <a:xfrm>
            <a:off x="1071880" y="3627121"/>
            <a:ext cx="14848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of holds found</a:t>
            </a:r>
            <a:endParaRPr lang="en-US" sz="1200" dirty="0"/>
          </a:p>
        </p:txBody>
      </p:sp>
      <p:sp>
        <p:nvSpPr>
          <p:cNvPr id="9" name="Text 7"/>
          <p:cNvSpPr/>
          <p:nvPr/>
        </p:nvSpPr>
        <p:spPr>
          <a:xfrm>
            <a:off x="2861522" y="2839721"/>
            <a:ext cx="191843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8212B"/>
                </a:solidFill>
                <a:latin typeface="Oswald" pitchFamily="34" charset="0"/>
                <a:ea typeface="Oswald" pitchFamily="34" charset="-122"/>
                <a:cs typeface="Oswald" pitchFamily="34" charset="-120"/>
              </a:rPr>
              <a:t>76%</a:t>
            </a:r>
            <a:endParaRPr lang="en-US" sz="6000" dirty="0"/>
          </a:p>
        </p:txBody>
      </p:sp>
      <p:sp>
        <p:nvSpPr>
          <p:cNvPr id="10" name="Text 8"/>
          <p:cNvSpPr/>
          <p:nvPr/>
        </p:nvSpPr>
        <p:spPr>
          <a:xfrm>
            <a:off x="2861522" y="3627121"/>
            <a:ext cx="22350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of outlines were real holds</a:t>
            </a:r>
            <a:endParaRPr lang="en-US" sz="1200" dirty="0"/>
          </a:p>
        </p:txBody>
      </p:sp>
      <p:sp>
        <p:nvSpPr>
          <p:cNvPr id="11" name="Shape 9"/>
          <p:cNvSpPr/>
          <p:nvPr/>
        </p:nvSpPr>
        <p:spPr>
          <a:xfrm>
            <a:off x="6197600" y="1884679"/>
            <a:ext cx="5181600" cy="2214880"/>
          </a:xfrm>
          <a:prstGeom prst="roundRect">
            <a:avLst>
              <a:gd name="adj" fmla="val 4587"/>
            </a:avLst>
          </a:prstGeom>
          <a:solidFill>
            <a:srgbClr val="18212B"/>
          </a:solidFill>
          <a:ln/>
        </p:spPr>
      </p:sp>
      <p:sp>
        <p:nvSpPr>
          <p:cNvPr id="12" name="Text 10"/>
          <p:cNvSpPr/>
          <p:nvPr/>
        </p:nvSpPr>
        <p:spPr>
          <a:xfrm>
            <a:off x="6451600" y="2138679"/>
            <a:ext cx="48138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8E04A"/>
                </a:solidFill>
                <a:latin typeface="Public Sans" pitchFamily="34" charset="0"/>
                <a:ea typeface="Public Sans" pitchFamily="34" charset="-122"/>
                <a:cs typeface="Public Sans" pitchFamily="34" charset="-120"/>
              </a:rPr>
              <a:t>Tap-to-sample (one tap on a hold)</a:t>
            </a:r>
            <a:endParaRPr lang="en-US" sz="1500" dirty="0"/>
          </a:p>
        </p:txBody>
      </p:sp>
      <p:sp>
        <p:nvSpPr>
          <p:cNvPr id="13" name="Text 11"/>
          <p:cNvSpPr/>
          <p:nvPr/>
        </p:nvSpPr>
        <p:spPr>
          <a:xfrm>
            <a:off x="6451600" y="2494279"/>
            <a:ext cx="48138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DD2"/>
                </a:solidFill>
                <a:latin typeface="Public Sans" pitchFamily="34" charset="0"/>
                <a:ea typeface="Public Sans" pitchFamily="34" charset="-122"/>
                <a:cs typeface="Public Sans" pitchFamily="34" charset="-120"/>
              </a:rPr>
              <a:t>7 photos redone so far</a:t>
            </a:r>
            <a:endParaRPr lang="en-US" sz="1200" dirty="0"/>
          </a:p>
        </p:txBody>
      </p:sp>
      <p:sp>
        <p:nvSpPr>
          <p:cNvPr id="14" name="Text 12"/>
          <p:cNvSpPr/>
          <p:nvPr/>
        </p:nvSpPr>
        <p:spPr>
          <a:xfrm>
            <a:off x="6451600" y="2834642"/>
            <a:ext cx="178261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3F1EA"/>
                </a:solidFill>
                <a:latin typeface="Oswald" pitchFamily="34" charset="0"/>
                <a:ea typeface="Oswald" pitchFamily="34" charset="-122"/>
                <a:cs typeface="Oswald" pitchFamily="34" charset="-120"/>
              </a:rPr>
              <a:t>92%</a:t>
            </a:r>
            <a:endParaRPr lang="en-US" sz="6000" dirty="0"/>
          </a:p>
        </p:txBody>
      </p:sp>
      <p:sp>
        <p:nvSpPr>
          <p:cNvPr id="15" name="Text 13"/>
          <p:cNvSpPr/>
          <p:nvPr/>
        </p:nvSpPr>
        <p:spPr>
          <a:xfrm>
            <a:off x="6451600" y="3622042"/>
            <a:ext cx="20768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DD2"/>
                </a:solidFill>
                <a:latin typeface="Public Sans" pitchFamily="34" charset="0"/>
                <a:ea typeface="Public Sans" pitchFamily="34" charset="-122"/>
                <a:cs typeface="Public Sans" pitchFamily="34" charset="-120"/>
              </a:rPr>
              <a:t>found (89% hand-tuned)</a:t>
            </a:r>
            <a:endParaRPr lang="en-US" sz="1200" dirty="0"/>
          </a:p>
        </p:txBody>
      </p:sp>
      <p:sp>
        <p:nvSpPr>
          <p:cNvPr id="16" name="Text 14"/>
          <p:cNvSpPr/>
          <p:nvPr/>
        </p:nvSpPr>
        <p:spPr>
          <a:xfrm>
            <a:off x="8537893" y="2834642"/>
            <a:ext cx="2062547"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3F1EA"/>
                </a:solidFill>
                <a:latin typeface="Oswald" pitchFamily="34" charset="0"/>
                <a:ea typeface="Oswald" pitchFamily="34" charset="-122"/>
                <a:cs typeface="Oswald" pitchFamily="34" charset="-120"/>
              </a:rPr>
              <a:t>79%</a:t>
            </a:r>
            <a:endParaRPr lang="en-US" sz="6000" dirty="0"/>
          </a:p>
        </p:txBody>
      </p:sp>
      <p:sp>
        <p:nvSpPr>
          <p:cNvPr id="17" name="Text 15"/>
          <p:cNvSpPr/>
          <p:nvPr/>
        </p:nvSpPr>
        <p:spPr>
          <a:xfrm>
            <a:off x="8537893" y="3622042"/>
            <a:ext cx="24029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DD2"/>
                </a:solidFill>
                <a:latin typeface="Public Sans" pitchFamily="34" charset="0"/>
                <a:ea typeface="Public Sans" pitchFamily="34" charset="-122"/>
                <a:cs typeface="Public Sans" pitchFamily="34" charset="-120"/>
              </a:rPr>
              <a:t>real holds (74% hand-tuned)</a:t>
            </a:r>
            <a:endParaRPr lang="en-US" sz="1200" dirty="0"/>
          </a:p>
        </p:txBody>
      </p:sp>
      <p:sp>
        <p:nvSpPr>
          <p:cNvPr id="18" name="Text 16"/>
          <p:cNvSpPr/>
          <p:nvPr/>
        </p:nvSpPr>
        <p:spPr>
          <a:xfrm>
            <a:off x="812800" y="4353558"/>
            <a:ext cx="3247919" cy="365760"/>
          </a:xfrm>
          <a:prstGeom prst="roundRect">
            <a:avLst>
              <a:gd name="adj" fmla="val 50000"/>
            </a:avLst>
          </a:prstGeom>
          <a:solidFill>
            <a:srgbClr val="E3EFC2"/>
          </a:solidFill>
          <a:ln/>
        </p:spPr>
        <p:txBody>
          <a:bodyPr wrap="none" lIns="0" tIns="0" rIns="0" bIns="0" rtlCol="0" anchor="ctr">
            <a:normAutofit/>
          </a:bodyPr>
          <a:lstStyle/>
          <a:p>
            <a:pPr algn="ctr" indent="0" marL="0">
              <a:lnSpc>
                <a:spcPts val="1680"/>
              </a:lnSpc>
              <a:buNone/>
            </a:pPr>
            <a:r>
              <a:rPr lang="en-US" sz="1200" dirty="0">
                <a:solidFill>
                  <a:srgbClr val="18212B"/>
                </a:solidFill>
                <a:latin typeface="Public Sans" pitchFamily="34" charset="0"/>
                <a:ea typeface="Public Sans" pitchFamily="34" charset="-122"/>
                <a:cs typeface="Public Sans" pitchFamily="34" charset="-120"/>
              </a:rPr>
              <a:t>✓ Test footage filmed and labelled at Suas</a:t>
            </a:r>
            <a:endParaRPr lang="en-US" sz="1200" dirty="0"/>
          </a:p>
        </p:txBody>
      </p:sp>
      <p:sp>
        <p:nvSpPr>
          <p:cNvPr id="19" name="Text 17"/>
          <p:cNvSpPr/>
          <p:nvPr/>
        </p:nvSpPr>
        <p:spPr>
          <a:xfrm>
            <a:off x="4162319" y="4353558"/>
            <a:ext cx="3091392" cy="365760"/>
          </a:xfrm>
          <a:prstGeom prst="roundRect">
            <a:avLst>
              <a:gd name="adj" fmla="val 50000"/>
            </a:avLst>
          </a:prstGeom>
          <a:solidFill>
            <a:srgbClr val="E3EFC2"/>
          </a:solidFill>
          <a:ln/>
        </p:spPr>
        <p:txBody>
          <a:bodyPr wrap="none" lIns="0" tIns="0" rIns="0" bIns="0" rtlCol="0" anchor="ctr">
            <a:normAutofit/>
          </a:bodyPr>
          <a:lstStyle/>
          <a:p>
            <a:pPr algn="ctr" indent="0" marL="0">
              <a:lnSpc>
                <a:spcPts val="1680"/>
              </a:lnSpc>
              <a:buNone/>
            </a:pPr>
            <a:r>
              <a:rPr lang="en-US" sz="1200" dirty="0">
                <a:solidFill>
                  <a:srgbClr val="18212B"/>
                </a:solidFill>
                <a:latin typeface="Public Sans" pitchFamily="34" charset="0"/>
                <a:ea typeface="Public Sans" pitchFamily="34" charset="-122"/>
                <a:cs typeface="Public Sans" pitchFamily="34" charset="-120"/>
              </a:rPr>
              <a:t>✓ Python tuning tool with tap-to-sample</a:t>
            </a:r>
            <a:endParaRPr lang="en-US" sz="1200" dirty="0"/>
          </a:p>
        </p:txBody>
      </p:sp>
      <p:sp>
        <p:nvSpPr>
          <p:cNvPr id="20" name="Text 18"/>
          <p:cNvSpPr/>
          <p:nvPr/>
        </p:nvSpPr>
        <p:spPr>
          <a:xfrm>
            <a:off x="7355311" y="4353558"/>
            <a:ext cx="3088111" cy="365760"/>
          </a:xfrm>
          <a:prstGeom prst="roundRect">
            <a:avLst>
              <a:gd name="adj" fmla="val 50000"/>
            </a:avLst>
          </a:prstGeom>
          <a:solidFill>
            <a:srgbClr val="E3EFC2"/>
          </a:solidFill>
          <a:ln/>
        </p:spPr>
        <p:txBody>
          <a:bodyPr wrap="none" lIns="0" tIns="0" rIns="0" bIns="0" rtlCol="0" anchor="ctr">
            <a:normAutofit/>
          </a:bodyPr>
          <a:lstStyle/>
          <a:p>
            <a:pPr algn="ctr" indent="0" marL="0">
              <a:lnSpc>
                <a:spcPts val="1680"/>
              </a:lnSpc>
              <a:buNone/>
            </a:pPr>
            <a:r>
              <a:rPr lang="en-US" sz="1200" dirty="0">
                <a:solidFill>
                  <a:srgbClr val="18212B"/>
                </a:solidFill>
                <a:latin typeface="Public Sans" pitchFamily="34" charset="0"/>
                <a:ea typeface="Public Sans" pitchFamily="34" charset="-122"/>
                <a:cs typeface="Public Sans" pitchFamily="34" charset="-120"/>
              </a:rPr>
              <a:t>✓ GitHub repo and task board (65 tasks)</a:t>
            </a:r>
            <a:endParaRPr lang="en-US" sz="1200" dirty="0"/>
          </a:p>
        </p:txBody>
      </p:sp>
      <p:sp>
        <p:nvSpPr>
          <p:cNvPr id="21" name="Text 19"/>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Development set only; final evaluation uses new photos</a:t>
            </a:r>
            <a:endParaRPr lang="en-US" sz="1200" dirty="0"/>
          </a:p>
        </p:txBody>
      </p:sp>
      <p:sp>
        <p:nvSpPr>
          <p:cNvPr id="22" name="Text 2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6810"/>
                </a:solidFill>
                <a:latin typeface="Public Sans" pitchFamily="34" charset="0"/>
                <a:ea typeface="Public Sans" pitchFamily="34" charset="-122"/>
                <a:cs typeface="Public Sans" pitchFamily="34" charset="-120"/>
              </a:rPr>
              <a:t>WORK TO DATE</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8212B"/>
                </a:solidFill>
                <a:latin typeface="Oswald" pitchFamily="34" charset="0"/>
                <a:ea typeface="Oswald" pitchFamily="34" charset="-122"/>
                <a:cs typeface="Oswald" pitchFamily="34" charset="-120"/>
              </a:rPr>
              <a:t>What works, and what doesn’t</a:t>
            </a:r>
            <a:endParaRPr lang="en-US" sz="3600" dirty="0"/>
          </a:p>
        </p:txBody>
      </p:sp>
      <p:pic>
        <p:nvPicPr>
          <p:cNvPr id="4" name="Image 0" descr="Lime route with all 7 holds outlined and numbered">    </p:cNvPr>
          <p:cNvPicPr>
            <a:picLocks noChangeAspect="1"/>
          </p:cNvPicPr>
          <p:nvPr/>
        </p:nvPicPr>
        <p:blipFill>
          <a:blip r:embed="rId1"/>
          <a:srcRect l="0" r="0" t="0" b="0"/>
          <a:stretch/>
        </p:blipFill>
        <p:spPr>
          <a:xfrm>
            <a:off x="812800" y="1884679"/>
            <a:ext cx="1600200" cy="2844800"/>
          </a:xfrm>
          <a:prstGeom prst="roundRect">
            <a:avLst>
              <a:gd name="adj" fmla="val 4762"/>
            </a:avLst>
          </a:prstGeom>
        </p:spPr>
      </p:pic>
      <p:sp>
        <p:nvSpPr>
          <p:cNvPr id="5" name="Text 2"/>
          <p:cNvSpPr/>
          <p:nvPr/>
        </p:nvSpPr>
        <p:spPr>
          <a:xfrm>
            <a:off x="2565400" y="1884679"/>
            <a:ext cx="684001" cy="314960"/>
          </a:xfrm>
          <a:prstGeom prst="roundRect">
            <a:avLst>
              <a:gd name="adj" fmla="val 50000"/>
            </a:avLst>
          </a:prstGeom>
          <a:solidFill>
            <a:srgbClr val="B8E04A"/>
          </a:solidFill>
          <a:ln/>
        </p:spPr>
        <p:txBody>
          <a:bodyPr wrap="none" lIns="0" tIns="0" rIns="0" bIns="0" rtlCol="0" anchor="ctr">
            <a:normAutofit/>
          </a:bodyPr>
          <a:lstStyle/>
          <a:p>
            <a:pPr algn="ctr" indent="0" marL="0">
              <a:lnSpc>
                <a:spcPts val="1680"/>
              </a:lnSpc>
              <a:buNone/>
            </a:pPr>
            <a:r>
              <a:rPr lang="en-US" sz="1200" b="1" dirty="0">
                <a:solidFill>
                  <a:srgbClr val="18212B"/>
                </a:solidFill>
                <a:latin typeface="Public Sans" pitchFamily="34" charset="0"/>
                <a:ea typeface="Public Sans" pitchFamily="34" charset="-122"/>
                <a:cs typeface="Public Sans" pitchFamily="34" charset="-120"/>
              </a:rPr>
              <a:t>Works</a:t>
            </a:r>
            <a:endParaRPr lang="en-US" sz="1200" dirty="0"/>
          </a:p>
        </p:txBody>
      </p:sp>
      <p:sp>
        <p:nvSpPr>
          <p:cNvPr id="6" name="Text 3"/>
          <p:cNvSpPr/>
          <p:nvPr/>
        </p:nvSpPr>
        <p:spPr>
          <a:xfrm>
            <a:off x="2565400" y="2301242"/>
            <a:ext cx="1617133"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752"/>
                </a:solidFill>
                <a:latin typeface="Public Sans" pitchFamily="34" charset="0"/>
                <a:ea typeface="Public Sans" pitchFamily="34" charset="-122"/>
                <a:cs typeface="Public Sans" pitchFamily="34" charset="-120"/>
              </a:rPr>
              <a:t>Lime:</a:t>
            </a:r>
            <a:r>
              <a:rPr lang="en-US" sz="1200" dirty="0">
                <a:solidFill>
                  <a:srgbClr val="3E4752"/>
                </a:solidFill>
                <a:latin typeface="Public Sans" pitchFamily="34" charset="0"/>
                <a:ea typeface="Public Sans" pitchFamily="34" charset="-122"/>
                <a:cs typeface="Public Sans" pitchFamily="34" charset="-120"/>
              </a:rPr>
              <a:t> 7 of 7 holds, no false outlines, from a single tap.</a:t>
            </a:r>
            <a:endParaRPr lang="en-US" sz="1200" dirty="0"/>
          </a:p>
        </p:txBody>
      </p:sp>
      <p:pic>
        <p:nvPicPr>
          <p:cNvPr id="7" name="Image 1" descr="Yellow route with 18 small holds outlined and numbered">    </p:cNvPr>
          <p:cNvPicPr>
            <a:picLocks noChangeAspect="1"/>
          </p:cNvPicPr>
          <p:nvPr/>
        </p:nvPicPr>
        <p:blipFill>
          <a:blip r:embed="rId2"/>
          <a:srcRect l="0" r="0" t="0" b="0"/>
          <a:stretch/>
        </p:blipFill>
        <p:spPr>
          <a:xfrm>
            <a:off x="4436533" y="1884679"/>
            <a:ext cx="1600200" cy="2844800"/>
          </a:xfrm>
          <a:prstGeom prst="roundRect">
            <a:avLst>
              <a:gd name="adj" fmla="val 4762"/>
            </a:avLst>
          </a:prstGeom>
        </p:spPr>
      </p:pic>
      <p:sp>
        <p:nvSpPr>
          <p:cNvPr id="8" name="Text 4"/>
          <p:cNvSpPr/>
          <p:nvPr/>
        </p:nvSpPr>
        <p:spPr>
          <a:xfrm>
            <a:off x="6189133" y="1884679"/>
            <a:ext cx="909955" cy="314960"/>
          </a:xfrm>
          <a:prstGeom prst="roundRect">
            <a:avLst>
              <a:gd name="adj" fmla="val 50000"/>
            </a:avLst>
          </a:prstGeom>
          <a:solidFill>
            <a:srgbClr val="F2D16B"/>
          </a:solidFill>
          <a:ln/>
        </p:spPr>
        <p:txBody>
          <a:bodyPr wrap="none" lIns="0" tIns="0" rIns="0" bIns="0" rtlCol="0" anchor="ctr">
            <a:normAutofit/>
          </a:bodyPr>
          <a:lstStyle/>
          <a:p>
            <a:pPr algn="ctr" indent="0" marL="0">
              <a:lnSpc>
                <a:spcPts val="1680"/>
              </a:lnSpc>
              <a:buNone/>
            </a:pPr>
            <a:r>
              <a:rPr lang="en-US" sz="1200" b="1" dirty="0">
                <a:solidFill>
                  <a:srgbClr val="18212B"/>
                </a:solidFill>
                <a:latin typeface="Public Sans" pitchFamily="34" charset="0"/>
                <a:ea typeface="Public Sans" pitchFamily="34" charset="-122"/>
                <a:cs typeface="Public Sans" pitchFamily="34" charset="-120"/>
              </a:rPr>
              <a:t>Improved</a:t>
            </a:r>
            <a:endParaRPr lang="en-US" sz="1200" dirty="0"/>
          </a:p>
        </p:txBody>
      </p:sp>
      <p:sp>
        <p:nvSpPr>
          <p:cNvPr id="9" name="Text 5"/>
          <p:cNvSpPr/>
          <p:nvPr/>
        </p:nvSpPr>
        <p:spPr>
          <a:xfrm>
            <a:off x="6189133" y="2301242"/>
            <a:ext cx="1617133" cy="10922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752"/>
                </a:solidFill>
                <a:latin typeface="Public Sans" pitchFamily="34" charset="0"/>
                <a:ea typeface="Public Sans" pitchFamily="34" charset="-122"/>
                <a:cs typeface="Public Sans" pitchFamily="34" charset="-120"/>
              </a:rPr>
              <a:t>Yellow:</a:t>
            </a:r>
            <a:r>
              <a:rPr lang="en-US" sz="1200" dirty="0">
                <a:solidFill>
                  <a:srgbClr val="3E4752"/>
                </a:solidFill>
                <a:latin typeface="Public Sans" pitchFamily="34" charset="0"/>
                <a:ea typeface="Public Sans" pitchFamily="34" charset="-122"/>
                <a:cs typeface="Public Sans" pitchFamily="34" charset="-120"/>
              </a:rPr>
              <a:t> a max hold size filter removed wall panels. 18 of 18 holds; real outlines up from 78% to 100%.</a:t>
            </a:r>
            <a:endParaRPr lang="en-US" sz="1200" dirty="0"/>
          </a:p>
        </p:txBody>
      </p:sp>
      <p:pic>
        <p:nvPicPr>
          <p:cNvPr id="10" name="Image 2" descr="White route where large wall panels are outlined instead of the white holds">    </p:cNvPr>
          <p:cNvPicPr>
            <a:picLocks noChangeAspect="1"/>
          </p:cNvPicPr>
          <p:nvPr/>
        </p:nvPicPr>
        <p:blipFill>
          <a:blip r:embed="rId3"/>
          <a:srcRect l="0" r="0" t="0" b="0"/>
          <a:stretch/>
        </p:blipFill>
        <p:spPr>
          <a:xfrm>
            <a:off x="8060267" y="1884679"/>
            <a:ext cx="1600200" cy="2844800"/>
          </a:xfrm>
          <a:prstGeom prst="roundRect">
            <a:avLst>
              <a:gd name="adj" fmla="val 4762"/>
            </a:avLst>
          </a:prstGeom>
        </p:spPr>
      </p:pic>
      <p:sp>
        <p:nvSpPr>
          <p:cNvPr id="11" name="Text 6"/>
          <p:cNvSpPr/>
          <p:nvPr/>
        </p:nvSpPr>
        <p:spPr>
          <a:xfrm>
            <a:off x="9812867" y="1884679"/>
            <a:ext cx="577109" cy="314960"/>
          </a:xfrm>
          <a:prstGeom prst="roundRect">
            <a:avLst>
              <a:gd name="adj" fmla="val 50000"/>
            </a:avLst>
          </a:prstGeom>
          <a:solidFill>
            <a:srgbClr val="F2B48A"/>
          </a:solidFill>
          <a:ln/>
        </p:spPr>
        <p:txBody>
          <a:bodyPr wrap="none" lIns="0" tIns="0" rIns="0" bIns="0" rtlCol="0" anchor="ctr">
            <a:normAutofit/>
          </a:bodyPr>
          <a:lstStyle/>
          <a:p>
            <a:pPr algn="ctr" indent="0" marL="0">
              <a:lnSpc>
                <a:spcPts val="1680"/>
              </a:lnSpc>
              <a:buNone/>
            </a:pPr>
            <a:r>
              <a:rPr lang="en-US" sz="1200" b="1" dirty="0">
                <a:solidFill>
                  <a:srgbClr val="18212B"/>
                </a:solidFill>
                <a:latin typeface="Public Sans" pitchFamily="34" charset="0"/>
                <a:ea typeface="Public Sans" pitchFamily="34" charset="-122"/>
                <a:cs typeface="Public Sans" pitchFamily="34" charset="-120"/>
              </a:rPr>
              <a:t>Fails</a:t>
            </a:r>
            <a:endParaRPr lang="en-US" sz="1200" dirty="0"/>
          </a:p>
        </p:txBody>
      </p:sp>
      <p:sp>
        <p:nvSpPr>
          <p:cNvPr id="12" name="Text 7"/>
          <p:cNvSpPr/>
          <p:nvPr/>
        </p:nvSpPr>
        <p:spPr>
          <a:xfrm>
            <a:off x="9812867" y="2301242"/>
            <a:ext cx="1617133" cy="10922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752"/>
                </a:solidFill>
                <a:latin typeface="Public Sans" pitchFamily="34" charset="0"/>
                <a:ea typeface="Public Sans" pitchFamily="34" charset="-122"/>
                <a:cs typeface="Public Sans" pitchFamily="34" charset="-120"/>
              </a:rPr>
              <a:t>White:</a:t>
            </a:r>
            <a:r>
              <a:rPr lang="en-US" sz="1200" dirty="0">
                <a:solidFill>
                  <a:srgbClr val="3E4752"/>
                </a:solidFill>
                <a:latin typeface="Public Sans" pitchFamily="34" charset="0"/>
                <a:ea typeface="Public Sans" pitchFamily="34" charset="-122"/>
                <a:cs typeface="Public Sans" pitchFamily="34" charset="-120"/>
              </a:rPr>
              <a:t> 3 of 15 holds. White has no colour to match against a white wall, so wall panels get picked up.</a:t>
            </a:r>
            <a:endParaRPr lang="en-US" sz="1200" dirty="0"/>
          </a:p>
        </p:txBody>
      </p:sp>
      <p:sp>
        <p:nvSpPr>
          <p:cNvPr id="13" name="Text 8"/>
          <p:cNvSpPr/>
          <p:nvPr/>
        </p:nvSpPr>
        <p:spPr>
          <a:xfrm>
            <a:off x="812800" y="4983479"/>
            <a:ext cx="10883392"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B"/>
                </a:solidFill>
                <a:latin typeface="Public Sans" pitchFamily="34" charset="0"/>
                <a:ea typeface="Public Sans" pitchFamily="34" charset="-122"/>
                <a:cs typeface="Public Sans" pitchFamily="34" charset="-120"/>
              </a:rPr>
              <a:t>Key finding:</a:t>
            </a:r>
            <a:r>
              <a:rPr lang="en-US" sz="1400" dirty="0">
                <a:solidFill>
                  <a:srgbClr val="18212B"/>
                </a:solidFill>
                <a:latin typeface="Public Sans" pitchFamily="34" charset="0"/>
                <a:ea typeface="Public Sans" pitchFamily="34" charset="-122"/>
                <a:cs typeface="Public Sans" pitchFamily="34" charset="-120"/>
              </a:rPr>
              <a:t> most false outlines are real holds from other climbs of the same colour. Colour alone can’t pick out one route, which is why the user taps the top hold.</a:t>
            </a:r>
            <a:endParaRPr lang="en-US" sz="1400" dirty="0"/>
          </a:p>
        </p:txBody>
      </p:sp>
      <p:sp>
        <p:nvSpPr>
          <p:cNvPr id="14"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6810"/>
                </a:solidFill>
                <a:latin typeface="Public Sans" pitchFamily="34" charset="0"/>
                <a:ea typeface="Public Sans" pitchFamily="34" charset="-122"/>
                <a:cs typeface="Public Sans" pitchFamily="34" charset="-120"/>
              </a:rPr>
              <a:t>CHALLENGES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8212B"/>
                </a:solidFill>
                <a:latin typeface="Oswald" pitchFamily="34" charset="0"/>
                <a:ea typeface="Oswald" pitchFamily="34" charset="-122"/>
                <a:cs typeface="Oswald" pitchFamily="34" charset="-120"/>
              </a:rPr>
              <a:t>Anticipated challenges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94839"/>
          <a:ext cx="10556240" cy="2854960"/>
        </p:xfrm>
        <a:graphic>
          <a:graphicData uri="http://schemas.openxmlformats.org/drawingml/2006/table">
            <a:tbl>
              <a:tblPr/>
              <a:tblGrid>
                <a:gridCol w="4222496"/>
                <a:gridCol w="6333744"/>
              </a:tblGrid>
              <a:tr h="330200">
                <a:tc>
                  <a:txBody>
                    <a:bodyPr/>
                    <a:lstStyle/>
                    <a:p>
                      <a:pPr indent="0" marL="0">
                        <a:lnSpc>
                          <a:spcPts val="1680"/>
                        </a:lnSpc>
                        <a:buNone/>
                      </a:pPr>
                      <a:r>
                        <a:rPr lang="en-US" sz="1200" b="1" dirty="0">
                          <a:solidFill>
                            <a:srgbClr val="3E4752"/>
                          </a:solidFill>
                          <a:latin typeface="Public Sans" pitchFamily="34" charset="0"/>
                          <a:ea typeface="Public Sans" pitchFamily="34" charset="-122"/>
                          <a:cs typeface="Public Sans" pitchFamily="34" charset="-120"/>
                        </a:rPr>
                        <a:t>Challenge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680"/>
                        </a:lnSpc>
                        <a:buNone/>
                      </a:pPr>
                      <a:r>
                        <a:rPr lang="en-US" sz="1200" b="1" dirty="0">
                          <a:solidFill>
                            <a:srgbClr val="3E4752"/>
                          </a:solidFill>
                          <a:latin typeface="Public Sans" pitchFamily="34" charset="0"/>
                          <a:ea typeface="Public Sans" pitchFamily="34" charset="-122"/>
                          <a:cs typeface="Public Sans" pitchFamily="34" charset="-120"/>
                        </a:rPr>
                        <a:t>How I’ll handle it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r>
              <a:tr h="330200">
                <a:tc>
                  <a:txBody>
                    <a:bodyPr/>
                    <a:lstStyle/>
                    <a:p>
                      <a:pPr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White, dark or shadowed holds are hard to find by colour</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Tap-to-sample; user confirms holds; trained detector as future work</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Same-colour holds from other climbs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User taps the top hold and marks the route area</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543560">
                <a:tc>
                  <a:txBody>
                    <a:bodyPr/>
                    <a:lstStyle/>
                    <a:p>
                      <a:pPr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Pose tracking lost (facing the wall, overhangs, other people)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Smooth landmarks, allow missed frames, track only the main climber</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Speed on a phone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Find holds once on a still frame; downscale; skip frames for pose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Learning Flutter and Dart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Python prototype first; Dart basics now; port over Christmas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Phone storage filling up with videos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Record at 720p, trim to the attempt, auto-delete old videos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Filming people (privacy, GDPR)</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Gym permission; ethics approval first; videos stay on the phone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bl>
          </a:graphicData>
        </a:graphic>
      </p:graphicFrame>
      <p:sp>
        <p:nvSpPr>
          <p:cNvPr id="5" name="Text 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6810"/>
                </a:solidFill>
                <a:latin typeface="Public Sans" pitchFamily="34" charset="0"/>
                <a:ea typeface="Public Sans" pitchFamily="34" charset="-122"/>
                <a:cs typeface="Public Sans" pitchFamily="34" charset="-120"/>
              </a:rPr>
              <a:t>PLAN</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8212B"/>
                </a:solidFill>
                <a:latin typeface="Oswald" pitchFamily="34" charset="0"/>
                <a:ea typeface="Oswald" pitchFamily="34" charset="-122"/>
                <a:cs typeface="Oswald" pitchFamily="34" charset="-120"/>
              </a:rPr>
              <a:t>Plan for the rest of the year</a:t>
            </a:r>
            <a:endParaRPr lang="en-US" sz="3600" dirty="0"/>
          </a:p>
        </p:txBody>
      </p:sp>
      <p:sp>
        <p:nvSpPr>
          <p:cNvPr id="4" name="Shape 2"/>
          <p:cNvSpPr/>
          <p:nvPr/>
        </p:nvSpPr>
        <p:spPr>
          <a:xfrm>
            <a:off x="812800" y="1884679"/>
            <a:ext cx="1676400" cy="2032000"/>
          </a:xfrm>
          <a:prstGeom prst="roundRect">
            <a:avLst>
              <a:gd name="adj" fmla="val 6061"/>
            </a:avLst>
          </a:prstGeom>
          <a:solidFill>
            <a:srgbClr val="18212B"/>
          </a:solidFill>
          <a:ln/>
        </p:spPr>
      </p:sp>
      <p:sp>
        <p:nvSpPr>
          <p:cNvPr id="5" name="Text 3"/>
          <p:cNvSpPr/>
          <p:nvPr/>
        </p:nvSpPr>
        <p:spPr>
          <a:xfrm>
            <a:off x="965200" y="2037079"/>
            <a:ext cx="1422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E04A"/>
                </a:solidFill>
                <a:latin typeface="Oswald" pitchFamily="34" charset="0"/>
                <a:ea typeface="Oswald" pitchFamily="34" charset="-122"/>
                <a:cs typeface="Oswald" pitchFamily="34" charset="-120"/>
              </a:rPr>
              <a:t>Oct · now</a:t>
            </a:r>
            <a:endParaRPr lang="en-US" sz="1600" dirty="0"/>
          </a:p>
        </p:txBody>
      </p:sp>
      <p:sp>
        <p:nvSpPr>
          <p:cNvPr id="6" name="Text 4"/>
          <p:cNvSpPr/>
          <p:nvPr/>
        </p:nvSpPr>
        <p:spPr>
          <a:xfrm>
            <a:off x="965200" y="2397758"/>
            <a:ext cx="142240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Public Sans" pitchFamily="34" charset="0"/>
                <a:ea typeface="Public Sans" pitchFamily="34" charset="-122"/>
                <a:cs typeface="Public Sans" pitchFamily="34" charset="-120"/>
              </a:rPr>
              <a:t>Hold detection prototype, test footage, slides, ethics</a:t>
            </a:r>
            <a:endParaRPr lang="en-US" sz="1200" dirty="0"/>
          </a:p>
        </p:txBody>
      </p:sp>
      <p:sp>
        <p:nvSpPr>
          <p:cNvPr id="7" name="Shape 5"/>
          <p:cNvSpPr/>
          <p:nvPr/>
        </p:nvSpPr>
        <p:spPr>
          <a:xfrm>
            <a:off x="2593975" y="1887854"/>
            <a:ext cx="1670050" cy="2025650"/>
          </a:xfrm>
          <a:prstGeom prst="roundRect">
            <a:avLst>
              <a:gd name="adj" fmla="val 5894"/>
            </a:avLst>
          </a:prstGeom>
          <a:solidFill>
            <a:srgbClr val="FBFAF6"/>
          </a:solidFill>
          <a:ln w="6350">
            <a:solidFill>
              <a:srgbClr val="DCD8CC"/>
            </a:solidFill>
            <a:prstDash val="solid"/>
          </a:ln>
        </p:spPr>
      </p:sp>
      <p:sp>
        <p:nvSpPr>
          <p:cNvPr id="8" name="Text 6"/>
          <p:cNvSpPr/>
          <p:nvPr/>
        </p:nvSpPr>
        <p:spPr>
          <a:xfrm>
            <a:off x="2748280" y="2042158"/>
            <a:ext cx="14122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8212B"/>
                </a:solidFill>
                <a:latin typeface="Oswald" pitchFamily="34" charset="0"/>
                <a:ea typeface="Oswald" pitchFamily="34" charset="-122"/>
                <a:cs typeface="Oswald" pitchFamily="34" charset="-120"/>
              </a:rPr>
              <a:t>Nov–Dec</a:t>
            </a:r>
            <a:endParaRPr lang="en-US" sz="1600" dirty="0"/>
          </a:p>
        </p:txBody>
      </p:sp>
      <p:sp>
        <p:nvSpPr>
          <p:cNvPr id="9" name="Text 7"/>
          <p:cNvSpPr/>
          <p:nvPr/>
        </p:nvSpPr>
        <p:spPr>
          <a:xfrm>
            <a:off x="2748280" y="2402842"/>
            <a:ext cx="141224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Pose prototype on clips, start/top/fall rules, wireframes, database design</a:t>
            </a:r>
            <a:endParaRPr lang="en-US" sz="1200" dirty="0"/>
          </a:p>
        </p:txBody>
      </p:sp>
      <p:sp>
        <p:nvSpPr>
          <p:cNvPr id="10" name="Text 8"/>
          <p:cNvSpPr/>
          <p:nvPr/>
        </p:nvSpPr>
        <p:spPr>
          <a:xfrm>
            <a:off x="2748280" y="3332479"/>
            <a:ext cx="141224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212B"/>
                </a:solidFill>
                <a:latin typeface="Public Sans" pitchFamily="34" charset="0"/>
                <a:ea typeface="Public Sans" pitchFamily="34" charset="-122"/>
                <a:cs typeface="Public Sans" pitchFamily="34" charset="-120"/>
              </a:rPr>
              <a:t>Interim report 23 Dec</a:t>
            </a:r>
            <a:endParaRPr lang="en-US" sz="1200" dirty="0"/>
          </a:p>
        </p:txBody>
      </p:sp>
      <p:sp>
        <p:nvSpPr>
          <p:cNvPr id="11" name="Shape 9"/>
          <p:cNvSpPr/>
          <p:nvPr/>
        </p:nvSpPr>
        <p:spPr>
          <a:xfrm>
            <a:off x="4371975" y="1887854"/>
            <a:ext cx="1670050" cy="2025650"/>
          </a:xfrm>
          <a:prstGeom prst="roundRect">
            <a:avLst>
              <a:gd name="adj" fmla="val 5894"/>
            </a:avLst>
          </a:prstGeom>
          <a:solidFill>
            <a:srgbClr val="FBFAF6"/>
          </a:solidFill>
          <a:ln w="6350">
            <a:solidFill>
              <a:srgbClr val="DCD8CC"/>
            </a:solidFill>
            <a:prstDash val="solid"/>
          </a:ln>
        </p:spPr>
      </p:sp>
      <p:sp>
        <p:nvSpPr>
          <p:cNvPr id="12" name="Text 10"/>
          <p:cNvSpPr/>
          <p:nvPr/>
        </p:nvSpPr>
        <p:spPr>
          <a:xfrm>
            <a:off x="4526280" y="2042158"/>
            <a:ext cx="14122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8212B"/>
                </a:solidFill>
                <a:latin typeface="Oswald" pitchFamily="34" charset="0"/>
                <a:ea typeface="Oswald" pitchFamily="34" charset="-122"/>
                <a:cs typeface="Oswald" pitchFamily="34" charset="-120"/>
              </a:rPr>
              <a:t>Christmas</a:t>
            </a:r>
            <a:endParaRPr lang="en-US" sz="1600" dirty="0"/>
          </a:p>
        </p:txBody>
      </p:sp>
      <p:sp>
        <p:nvSpPr>
          <p:cNvPr id="13" name="Text 11"/>
          <p:cNvSpPr/>
          <p:nvPr/>
        </p:nvSpPr>
        <p:spPr>
          <a:xfrm>
            <a:off x="4526280" y="2402842"/>
            <a:ext cx="1412240"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Flutter app: camera, local logbook, hold detection in Dart, route overlay</a:t>
            </a:r>
            <a:endParaRPr lang="en-US" sz="1200" dirty="0"/>
          </a:p>
        </p:txBody>
      </p:sp>
      <p:sp>
        <p:nvSpPr>
          <p:cNvPr id="14" name="Shape 12"/>
          <p:cNvSpPr/>
          <p:nvPr/>
        </p:nvSpPr>
        <p:spPr>
          <a:xfrm>
            <a:off x="6149975" y="1887854"/>
            <a:ext cx="1670050" cy="2025650"/>
          </a:xfrm>
          <a:prstGeom prst="roundRect">
            <a:avLst>
              <a:gd name="adj" fmla="val 5894"/>
            </a:avLst>
          </a:prstGeom>
          <a:solidFill>
            <a:srgbClr val="FBFAF6"/>
          </a:solidFill>
          <a:ln w="6350">
            <a:solidFill>
              <a:srgbClr val="DCD8CC"/>
            </a:solidFill>
            <a:prstDash val="solid"/>
          </a:ln>
        </p:spPr>
      </p:sp>
      <p:sp>
        <p:nvSpPr>
          <p:cNvPr id="15" name="Text 13"/>
          <p:cNvSpPr/>
          <p:nvPr/>
        </p:nvSpPr>
        <p:spPr>
          <a:xfrm>
            <a:off x="6304280" y="2042158"/>
            <a:ext cx="14122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8212B"/>
                </a:solidFill>
                <a:latin typeface="Oswald" pitchFamily="34" charset="0"/>
                <a:ea typeface="Oswald" pitchFamily="34" charset="-122"/>
                <a:cs typeface="Oswald" pitchFamily="34" charset="-120"/>
              </a:rPr>
              <a:t>Jan–Feb</a:t>
            </a:r>
            <a:endParaRPr lang="en-US" sz="1600" dirty="0"/>
          </a:p>
        </p:txBody>
      </p:sp>
      <p:sp>
        <p:nvSpPr>
          <p:cNvPr id="16" name="Text 14"/>
          <p:cNvSpPr/>
          <p:nvPr/>
        </p:nvSpPr>
        <p:spPr>
          <a:xfrm>
            <a:off x="6304280" y="2402842"/>
            <a:ext cx="141224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Live pose tracking, auto start/stop, topped/fell, gym field test</a:t>
            </a:r>
            <a:endParaRPr lang="en-US" sz="1200" dirty="0"/>
          </a:p>
        </p:txBody>
      </p:sp>
      <p:sp>
        <p:nvSpPr>
          <p:cNvPr id="17" name="Shape 15"/>
          <p:cNvSpPr/>
          <p:nvPr/>
        </p:nvSpPr>
        <p:spPr>
          <a:xfrm>
            <a:off x="7927975" y="1887854"/>
            <a:ext cx="1670050" cy="2025650"/>
          </a:xfrm>
          <a:prstGeom prst="roundRect">
            <a:avLst>
              <a:gd name="adj" fmla="val 5894"/>
            </a:avLst>
          </a:prstGeom>
          <a:solidFill>
            <a:srgbClr val="FBFAF6"/>
          </a:solidFill>
          <a:ln w="6350">
            <a:solidFill>
              <a:srgbClr val="DCD8CC"/>
            </a:solidFill>
            <a:prstDash val="solid"/>
          </a:ln>
        </p:spPr>
      </p:sp>
      <p:sp>
        <p:nvSpPr>
          <p:cNvPr id="18" name="Text 16"/>
          <p:cNvSpPr/>
          <p:nvPr/>
        </p:nvSpPr>
        <p:spPr>
          <a:xfrm>
            <a:off x="8082280" y="2042158"/>
            <a:ext cx="14122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8212B"/>
                </a:solidFill>
                <a:latin typeface="Oswald" pitchFamily="34" charset="0"/>
                <a:ea typeface="Oswald" pitchFamily="34" charset="-122"/>
                <a:cs typeface="Oswald" pitchFamily="34" charset="-120"/>
              </a:rPr>
              <a:t>Feb–Mar</a:t>
            </a:r>
            <a:endParaRPr lang="en-US" sz="1600" dirty="0"/>
          </a:p>
        </p:txBody>
      </p:sp>
      <p:sp>
        <p:nvSpPr>
          <p:cNvPr id="19" name="Text 17"/>
          <p:cNvSpPr/>
          <p:nvPr/>
        </p:nvSpPr>
        <p:spPr>
          <a:xfrm>
            <a:off x="8082280" y="2402842"/>
            <a:ext cx="141224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Logbook, final accuracy evaluation, user testing</a:t>
            </a:r>
            <a:endParaRPr lang="en-US" sz="1200" dirty="0"/>
          </a:p>
        </p:txBody>
      </p:sp>
      <p:sp>
        <p:nvSpPr>
          <p:cNvPr id="20" name="Text 18"/>
          <p:cNvSpPr/>
          <p:nvPr/>
        </p:nvSpPr>
        <p:spPr>
          <a:xfrm>
            <a:off x="8082280" y="3332479"/>
            <a:ext cx="141224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212B"/>
                </a:solidFill>
                <a:latin typeface="Public Sans" pitchFamily="34" charset="0"/>
                <a:ea typeface="Public Sans" pitchFamily="34" charset="-122"/>
                <a:cs typeface="Public Sans" pitchFamily="34" charset="-120"/>
              </a:rPr>
              <a:t>Draft report 19 Mar</a:t>
            </a:r>
            <a:endParaRPr lang="en-US" sz="1200" dirty="0"/>
          </a:p>
        </p:txBody>
      </p:sp>
      <p:sp>
        <p:nvSpPr>
          <p:cNvPr id="21" name="Shape 19"/>
          <p:cNvSpPr/>
          <p:nvPr/>
        </p:nvSpPr>
        <p:spPr>
          <a:xfrm>
            <a:off x="9705975" y="1887854"/>
            <a:ext cx="1670050" cy="2025650"/>
          </a:xfrm>
          <a:prstGeom prst="roundRect">
            <a:avLst>
              <a:gd name="adj" fmla="val 5894"/>
            </a:avLst>
          </a:prstGeom>
          <a:solidFill>
            <a:srgbClr val="FBFAF6"/>
          </a:solidFill>
          <a:ln w="6350">
            <a:solidFill>
              <a:srgbClr val="DCD8CC"/>
            </a:solidFill>
            <a:prstDash val="solid"/>
          </a:ln>
        </p:spPr>
      </p:sp>
      <p:sp>
        <p:nvSpPr>
          <p:cNvPr id="22" name="Text 20"/>
          <p:cNvSpPr/>
          <p:nvPr/>
        </p:nvSpPr>
        <p:spPr>
          <a:xfrm>
            <a:off x="9860280" y="2042158"/>
            <a:ext cx="14122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8212B"/>
                </a:solidFill>
                <a:latin typeface="Oswald" pitchFamily="34" charset="0"/>
                <a:ea typeface="Oswald" pitchFamily="34" charset="-122"/>
                <a:cs typeface="Oswald" pitchFamily="34" charset="-120"/>
              </a:rPr>
              <a:t>Mar–Apr</a:t>
            </a:r>
            <a:endParaRPr lang="en-US" sz="1600" dirty="0"/>
          </a:p>
        </p:txBody>
      </p:sp>
      <p:sp>
        <p:nvSpPr>
          <p:cNvPr id="23" name="Text 21"/>
          <p:cNvSpPr/>
          <p:nvPr/>
        </p:nvSpPr>
        <p:spPr>
          <a:xfrm>
            <a:off x="9860280" y="2402842"/>
            <a:ext cx="14122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752"/>
                </a:solidFill>
                <a:latin typeface="Public Sans" pitchFamily="34" charset="0"/>
                <a:ea typeface="Public Sans" pitchFamily="34" charset="-122"/>
                <a:cs typeface="Public Sans" pitchFamily="34" charset="-120"/>
              </a:rPr>
              <a:t>Bug fixing, polish, secondary features if time</a:t>
            </a:r>
            <a:endParaRPr lang="en-US" sz="1200" dirty="0"/>
          </a:p>
        </p:txBody>
      </p:sp>
      <p:sp>
        <p:nvSpPr>
          <p:cNvPr id="24" name="Text 22"/>
          <p:cNvSpPr/>
          <p:nvPr/>
        </p:nvSpPr>
        <p:spPr>
          <a:xfrm>
            <a:off x="9860280" y="3119121"/>
            <a:ext cx="141224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212B"/>
                </a:solidFill>
                <a:latin typeface="Public Sans" pitchFamily="34" charset="0"/>
                <a:ea typeface="Public Sans" pitchFamily="34" charset="-122"/>
                <a:cs typeface="Public Sans" pitchFamily="34" charset="-120"/>
              </a:rPr>
              <a:t>Product 20 Apr, report 26 Apr</a:t>
            </a:r>
            <a:endParaRPr lang="en-US" sz="1200" dirty="0"/>
          </a:p>
        </p:txBody>
      </p:sp>
      <p:sp>
        <p:nvSpPr>
          <p:cNvPr id="25" name="Text 23"/>
          <p:cNvSpPr/>
          <p:nvPr/>
        </p:nvSpPr>
        <p:spPr>
          <a:xfrm>
            <a:off x="812800" y="4170679"/>
            <a:ext cx="10883392"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B"/>
                </a:solidFill>
                <a:latin typeface="Public Sans" pitchFamily="34" charset="0"/>
                <a:ea typeface="Public Sans" pitchFamily="34" charset="-122"/>
                <a:cs typeface="Public Sans" pitchFamily="34" charset="-120"/>
              </a:rPr>
              <a:t>Tracked on a GitHub project board</a:t>
            </a:r>
            <a:r>
              <a:rPr lang="en-US" sz="1400" dirty="0">
                <a:solidFill>
                  <a:srgbClr val="18212B"/>
                </a:solidFill>
                <a:latin typeface="Public Sans" pitchFamily="34" charset="0"/>
                <a:ea typeface="Public Sans" pitchFamily="34" charset="-122"/>
                <a:cs typeface="Public Sans" pitchFamily="34" charset="-120"/>
              </a:rPr>
              <a:t> with monthly milestones. The hardest phase (live tracking) is early in semester 2, leaving time to fix problems.</a:t>
            </a:r>
            <a:endParaRPr lang="en-US" sz="1400" dirty="0"/>
          </a:p>
        </p:txBody>
      </p:sp>
      <p:sp>
        <p:nvSpPr>
          <p:cNvPr id="26" name="Text 2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0"/>
                </a:solidFill>
                <a:latin typeface="Public Sans" pitchFamily="34" charset="0"/>
                <a:ea typeface="Public Sans" pitchFamily="34" charset="-122"/>
                <a:cs typeface="Public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B8E04A"/>
        </a:solidFill>
      </p:bgPr>
    </p:bg>
    <p:spTree>
      <p:nvGrpSpPr>
        <p:cNvPr id="1" name=""/>
        <p:cNvGrpSpPr/>
        <p:nvPr/>
      </p:nvGrpSpPr>
      <p:grpSpPr>
        <a:xfrm>
          <a:off x="0" y="0"/>
          <a:ext cx="0" cy="0"/>
          <a:chOff x="0" y="0"/>
          <a:chExt cx="0" cy="0"/>
        </a:xfrm>
      </p:grpSpPr>
      <p:sp>
        <p:nvSpPr>
          <p:cNvPr id="2" name="Text 0"/>
          <p:cNvSpPr/>
          <p:nvPr>
            <p:ph type="title"/>
          </p:nvPr>
        </p:nvSpPr>
        <p:spPr>
          <a:xfrm>
            <a:off x="812800" y="2225042"/>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i="0" dirty="0">
                <a:solidFill>
                  <a:srgbClr val="18212B"/>
                </a:solidFill>
                <a:latin typeface="Oswald" pitchFamily="34" charset="0"/>
                <a:ea typeface="Oswald" pitchFamily="34" charset="-122"/>
                <a:cs typeface="Oswald" pitchFamily="34" charset="-120"/>
              </a:rPr>
              <a:t>Questions?</a:t>
            </a:r>
            <a:endParaRPr lang="en-US" sz="10000" dirty="0"/>
          </a:p>
        </p:txBody>
      </p:sp>
      <p:sp>
        <p:nvSpPr>
          <p:cNvPr id="3" name="Text 1"/>
          <p:cNvSpPr/>
          <p:nvPr/>
        </p:nvSpPr>
        <p:spPr>
          <a:xfrm>
            <a:off x="812800" y="3749042"/>
            <a:ext cx="10883392"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8212B"/>
                </a:solidFill>
                <a:latin typeface="Public Sans" pitchFamily="34" charset="0"/>
                <a:ea typeface="Public Sans" pitchFamily="34" charset="-122"/>
                <a:cs typeface="Public Sans" pitchFamily="34" charset="-120"/>
              </a:rPr>
              <a:t>SendIt: spots the route, watches the climb, logs the outcome.</a:t>
            </a:r>
            <a:endParaRPr lang="en-US" sz="2200" dirty="0"/>
          </a:p>
        </p:txBody>
      </p:sp>
      <p:sp>
        <p:nvSpPr>
          <p:cNvPr id="4" name="Text 2"/>
          <p:cNvSpPr/>
          <p:nvPr/>
        </p:nvSpPr>
        <p:spPr>
          <a:xfrm>
            <a:off x="812800" y="4366258"/>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8212B"/>
                </a:solidFill>
                <a:latin typeface="Public Sans" pitchFamily="34" charset="0"/>
                <a:ea typeface="Public Sans" pitchFamily="34" charset="-122"/>
                <a:cs typeface="Public Sans" pitchFamily="34" charset="-120"/>
              </a:rPr>
              <a:t>Kevin Monahan · Supervisor: Fazilat Hojaji</a:t>
            </a:r>
            <a:endParaRPr lang="en-US" sz="1500" dirty="0"/>
          </a:p>
        </p:txBody>
      </p:sp>
    </p:spTree>
  </p:cSld>
  <p:clrMapOvr>
    <a:masterClrMapping/>
  </p:clrMapOvr>
</p:sld>
</file>

<file path=ppt/theme/theme1.xml><?xml version="1.0" encoding="utf-8"?>
<a:theme xmlns:a="http://schemas.openxmlformats.org/drawingml/2006/main" name="SendIt: Bouldering Log – FYP Presentation">
  <a:themeElements>
    <a:clrScheme name="SendIt: Bouldering Log – FYP Presentation">
      <a:dk1>
        <a:srgbClr val="18212B"/>
      </a:dk1>
      <a:lt1>
        <a:srgbClr val="F3F1EA"/>
      </a:lt1>
      <a:dk2>
        <a:srgbClr val="4F555B"/>
      </a:dk2>
      <a:lt2>
        <a:srgbClr val="DDDCD7"/>
      </a:lt2>
      <a:accent1>
        <a:srgbClr val="4F6810"/>
      </a:accent1>
      <a:accent2>
        <a:srgbClr val="B8E04A"/>
      </a:accent2>
      <a:accent3>
        <a:srgbClr val="E3EFC2"/>
      </a:accent3>
      <a:accent4>
        <a:srgbClr val="F2D16B"/>
      </a:accent4>
      <a:accent5>
        <a:srgbClr val="F2B48A"/>
      </a:accent5>
      <a:accent6>
        <a:srgbClr val="3E4752"/>
      </a:accent6>
      <a:hlink>
        <a:srgbClr val="0563C1"/>
      </a:hlink>
      <a:folHlink>
        <a:srgbClr val="954F72"/>
      </a:folHlink>
    </a:clrScheme>
    <a:fontScheme name="SendIt: Bouldering Log – FYP Presentation">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SendIt: Bouldering Log – FYP Presentation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Oswald
Copyright 2016 The Oswald Project Authors (https://github.com/googlefonts/OswaldFont)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2026-10-20T20:04:52Z</dcterms:created>
  <dcterms:modified xsi:type="dcterms:W3CDTF">2026-10-20T20:04:52Z</dcterms:modified>
</cp:coreProperties>
</file>